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92531a4-051d-4967-aaa5-473362dccdba}">
          <p14:sldIdLst>
            <p14:sldId id="256"/>
            <p14:sldId id="257"/>
            <p14:sldId id="258"/>
          </p14:sldIdLst>
        </p14:section>
        <p14:section name="Data &amp; method" id="{91f75eb2-f64c-8a69-b951-8ca9c78f913d}">
          <p14:sldIdLst>
            <p14:sldId id="259"/>
            <p14:sldId id="260"/>
            <p14:sldId id="261"/>
            <p14:sldId id="262"/>
          </p14:sldIdLst>
        </p14:section>
        <p14:section name="Results" id="{021cea14-67d0-a3c9-9471-97572924a86f}">
          <p14:sldIdLst>
            <p14:sldId id="263"/>
            <p14:sldId id="264"/>
            <p14:sldId id="265"/>
            <p14:sldId id="266"/>
            <p14:sldId id="267"/>
            <p14:sldId id="268"/>
          </p14:sldIdLst>
        </p14:section>
        <p14:section name="Video tests" id="{920264fe-d279-3303-a401-ad080aa8a6f1}">
          <p14:sldIdLst>
            <p14:sldId id="269"/>
          </p14:sldIdLst>
        </p14:section>
        <p14:section name="Gaps &amp; next steps" id="{7bb53f35-4713-b591-53e9-d09a5f42dab3}">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6"/>
                </a:solidFill>
                <a:latin typeface="+mn-lt"/>
              </a:defRPr>
            </a:pPr>
            <a:r>
              <a:rPr sz="1400" b="0" i="0" u="none" strike="noStrike">
                <a:solidFill>
                  <a:srgbClr val="1C2126"/>
                </a:solidFill>
                <a:latin typeface="+mn-lt"/>
              </a:rPr>
              <a:t>Training boxes per class</a:t>
            </a:r>
          </a:p>
        </c:rich>
      </c:tx>
      <c:layout/>
      <c:overlay val="0"/>
    </c:title>
    <c:autoTitleDeleted val="0"/>
    <c:plotArea>
      <c:layout/>
      <c:barChart>
        <c:barDir val="col"/>
        <c:grouping val="clustered"/>
        <c:varyColors val="0"/>
        <c:ser>
          <c:idx val="0"/>
          <c:order val="0"/>
          <c:tx>
            <c:strRef>
              <c:f>Sheet1!$B$1</c:f>
              <c:strCache>
                <c:ptCount val="1"/>
                <c:pt idx="0">
                  <c:v>Old model (Kaggle only)</c:v>
                </c:pt>
              </c:strCache>
            </c:strRef>
          </c:tx>
          <c:spPr>
            <a:solidFill>
              <a:srgbClr val="8C96A3"/>
            </a:solidFill>
            <a:effectLst/>
          </c:spPr>
          <c:invertIfNegative val="0"/>
          <c:dLbls>
            <c:numFmt formatCode="#,##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cat>
            <c:multiLvlStrRef>
              <c:f>Sheet1!$A$2:$A$4</c:f>
              <c:multiLvlStrCache>
                <c:ptCount val="3"/>
                <c:lvl>
                  <c:pt idx="0">
                    <c:v>Pothole</c:v>
                  </c:pt>
                  <c:pt idx="1">
                    <c:v>Crack</c:v>
                  </c:pt>
                  <c:pt idx="2">
                    <c:v>Alligator crack</c:v>
                  </c:pt>
                </c:lvl>
              </c:multiLvlStrCache>
            </c:multiLvlStrRef>
          </c:cat>
          <c:val>
            <c:numRef>
              <c:f>Sheet1!$B$2:$B$4</c:f>
              <c:numCache>
                <c:formatCode>General</c:formatCode>
                <c:ptCount val="3"/>
                <c:pt idx="0">
                  <c:v>1080</c:v>
                </c:pt>
                <c:pt idx="1">
                  <c:v>868</c:v>
                </c:pt>
                <c:pt idx="2">
                  <c:v>0</c:v>
                </c:pt>
              </c:numCache>
            </c:numRef>
          </c:val>
        </c:ser>
        <c:ser>
          <c:idx val="1"/>
          <c:order val="1"/>
          <c:tx>
            <c:strRef>
              <c:f>Sheet1!$C$1</c:f>
              <c:strCache>
                <c:ptCount val="1"/>
                <c:pt idx="0">
                  <c:v>New model (merged)</c:v>
                </c:pt>
              </c:strCache>
            </c:strRef>
          </c:tx>
          <c:spPr>
            <a:solidFill>
              <a:srgbClr val="F2A900"/>
            </a:solidFill>
            <a:effectLst/>
          </c:spPr>
          <c:invertIfNegative val="0"/>
          <c:dLbls>
            <c:numFmt formatCode="#,##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cat>
            <c:multiLvlStrRef>
              <c:f>Sheet1!$A$2:$A$4</c:f>
              <c:multiLvlStrCache>
                <c:ptCount val="3"/>
                <c:lvl>
                  <c:pt idx="0">
                    <c:v>Pothole</c:v>
                  </c:pt>
                  <c:pt idx="1">
                    <c:v>Crack</c:v>
                  </c:pt>
                  <c:pt idx="2">
                    <c:v>Alligator crack</c:v>
                  </c:pt>
                </c:lvl>
              </c:multiLvlStrCache>
            </c:multiLvlStrRef>
          </c:cat>
          <c:val>
            <c:numRef>
              <c:f>Sheet1!$C$2:$C$4</c:f>
              <c:numCache>
                <c:formatCode>General</c:formatCode>
                <c:ptCount val="3"/>
                <c:pt idx="0">
                  <c:v>5880</c:v>
                </c:pt>
                <c:pt idx="1">
                  <c:v>20759</c:v>
                </c:pt>
                <c:pt idx="2">
                  <c:v>7859</c:v>
                </c:pt>
              </c:numCache>
            </c:numRef>
          </c:val>
        </c:ser>
        <c:dLbls>
          <c:numFmt formatCode="#,##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A556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1E6"/>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4A5562"/>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A556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6"/>
                </a:solidFill>
                <a:latin typeface="+mn-lt"/>
              </a:defRPr>
            </a:pPr>
            <a:r>
              <a:rPr sz="1400" b="0" i="0" u="none" strike="noStrike">
                <a:solidFill>
                  <a:srgbClr val="1C2126"/>
                </a:solidFill>
                <a:latin typeface="+mn-lt"/>
              </a:rPr>
              <a:t>Validation set, averaged over trained classes, by epoch</a:t>
            </a:r>
          </a:p>
        </c:rich>
      </c:tx>
      <c:layout/>
      <c:overlay val="0"/>
    </c:title>
    <c:autoTitleDeleted val="0"/>
    <c:plotArea>
      <c:layout/>
      <c:lineChart>
        <c:varyColors val="0"/>
        <c:ser>
          <c:idx val="0"/>
          <c:order val="0"/>
          <c:tx>
            <c:strRef>
              <c:f>Sheet1!$B$1</c:f>
              <c:strCache>
                <c:ptCount val="1"/>
                <c:pt idx="0">
                  <c:v>mAP50</c:v>
                </c:pt>
              </c:strCache>
            </c:strRef>
          </c:tx>
          <c:spPr>
            <a:solidFill>
              <a:srgbClr val="E67E22"/>
            </a:solidFill>
            <a:ln w="31750" cap="flat">
              <a:solidFill>
                <a:srgbClr val="E67E22"/>
              </a:solidFill>
              <a:prstDash val="solid"/>
              <a:round/>
            </a:ln>
            <a:effectLst/>
          </c:spPr>
          <c:invertIfNegative val="0"/>
          <c:dLbls>
            <c:numFmt formatCode="#,##0" sourceLinked="0"/>
            <c:txPr>
              <a:bodyPr/>
              <a:lstStyle/>
              <a:p>
                <a:pPr>
                  <a:defRPr b="0" i="0" strike="noStrike" sz="1100" u="none">
                    <a:solidFill>
                      <a:srgbClr val="1C2126"/>
                    </a:solidFill>
                    <a:latin typeface="+mn-lt"/>
                  </a:defRPr>
                </a:pPr>
              </a:p>
            </c:txPr>
            <c:showLegendKey val="0"/>
            <c:showVal val="0"/>
            <c:showCatName val="0"/>
            <c:showSerName val="0"/>
            <c:showPercent val="0"/>
            <c:showBubbleSize val="0"/>
            <c:showLeaderLines val="0"/>
          </c:dLbls>
          <c:marker>
            <c:symbol val="none"/>
            <c:size val="6"/>
            <c:spPr>
              <a:solidFill>
                <a:srgbClr val="E67E22"/>
              </a:solidFill>
              <a:ln w="9525" cap="flat">
                <a:solidFill>
                  <a:srgbClr val="E67E22"/>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Sheet1!$B$2:$B$61</c:f>
              <c:numCache>
                <c:formatCode>General</c:formatCode>
                <c:ptCount val="60"/>
                <c:pt idx="0">
                  <c:v>0.456</c:v>
                </c:pt>
                <c:pt idx="1">
                  <c:v>0.325</c:v>
                </c:pt>
                <c:pt idx="2">
                  <c:v>0.331</c:v>
                </c:pt>
                <c:pt idx="3">
                  <c:v>0.405</c:v>
                </c:pt>
                <c:pt idx="4">
                  <c:v>0.479</c:v>
                </c:pt>
                <c:pt idx="5">
                  <c:v>0.521</c:v>
                </c:pt>
                <c:pt idx="6">
                  <c:v>0.509</c:v>
                </c:pt>
                <c:pt idx="7">
                  <c:v>0.572</c:v>
                </c:pt>
                <c:pt idx="8">
                  <c:v>0.56</c:v>
                </c:pt>
                <c:pt idx="9">
                  <c:v>0.593</c:v>
                </c:pt>
                <c:pt idx="10">
                  <c:v>0.598</c:v>
                </c:pt>
                <c:pt idx="11">
                  <c:v>0.608</c:v>
                </c:pt>
                <c:pt idx="12">
                  <c:v>0.627</c:v>
                </c:pt>
                <c:pt idx="13">
                  <c:v>0.627</c:v>
                </c:pt>
                <c:pt idx="14">
                  <c:v>0.639</c:v>
                </c:pt>
                <c:pt idx="15">
                  <c:v>0.647</c:v>
                </c:pt>
                <c:pt idx="16">
                  <c:v>0.65</c:v>
                </c:pt>
                <c:pt idx="17">
                  <c:v>0.655</c:v>
                </c:pt>
                <c:pt idx="18">
                  <c:v>0.661</c:v>
                </c:pt>
                <c:pt idx="19">
                  <c:v>0.678</c:v>
                </c:pt>
                <c:pt idx="20">
                  <c:v>0.67</c:v>
                </c:pt>
                <c:pt idx="21">
                  <c:v>0.673</c:v>
                </c:pt>
                <c:pt idx="22">
                  <c:v>0.686</c:v>
                </c:pt>
                <c:pt idx="23">
                  <c:v>0.691</c:v>
                </c:pt>
                <c:pt idx="24">
                  <c:v>0.69</c:v>
                </c:pt>
                <c:pt idx="25">
                  <c:v>0.692</c:v>
                </c:pt>
                <c:pt idx="26">
                  <c:v>0.698</c:v>
                </c:pt>
                <c:pt idx="27">
                  <c:v>0.705</c:v>
                </c:pt>
                <c:pt idx="28">
                  <c:v>0.706</c:v>
                </c:pt>
                <c:pt idx="29">
                  <c:v>0.709</c:v>
                </c:pt>
                <c:pt idx="30">
                  <c:v>0.709</c:v>
                </c:pt>
                <c:pt idx="31">
                  <c:v>0.703</c:v>
                </c:pt>
                <c:pt idx="32">
                  <c:v>0.704</c:v>
                </c:pt>
                <c:pt idx="33">
                  <c:v>0.706</c:v>
                </c:pt>
                <c:pt idx="34">
                  <c:v>0.708</c:v>
                </c:pt>
                <c:pt idx="35">
                  <c:v>0.708</c:v>
                </c:pt>
                <c:pt idx="36">
                  <c:v>0.713</c:v>
                </c:pt>
                <c:pt idx="37">
                  <c:v>0.717</c:v>
                </c:pt>
                <c:pt idx="38">
                  <c:v>0.721</c:v>
                </c:pt>
                <c:pt idx="39">
                  <c:v>0.723</c:v>
                </c:pt>
                <c:pt idx="40">
                  <c:v>0.724</c:v>
                </c:pt>
                <c:pt idx="41">
                  <c:v>0.723</c:v>
                </c:pt>
                <c:pt idx="42">
                  <c:v>0.721</c:v>
                </c:pt>
                <c:pt idx="43">
                  <c:v>0.722</c:v>
                </c:pt>
                <c:pt idx="44">
                  <c:v>0.723</c:v>
                </c:pt>
                <c:pt idx="45">
                  <c:v>0.724</c:v>
                </c:pt>
                <c:pt idx="46">
                  <c:v>0.724</c:v>
                </c:pt>
                <c:pt idx="47">
                  <c:v>0.725</c:v>
                </c:pt>
                <c:pt idx="48">
                  <c:v>0.725</c:v>
                </c:pt>
                <c:pt idx="49">
                  <c:v>0.726</c:v>
                </c:pt>
                <c:pt idx="50">
                  <c:v>0.727</c:v>
                </c:pt>
                <c:pt idx="51">
                  <c:v>0.728</c:v>
                </c:pt>
                <c:pt idx="52">
                  <c:v>0.727</c:v>
                </c:pt>
                <c:pt idx="53">
                  <c:v>0.727</c:v>
                </c:pt>
                <c:pt idx="54">
                  <c:v>0.727</c:v>
                </c:pt>
                <c:pt idx="55">
                  <c:v>0.728</c:v>
                </c:pt>
                <c:pt idx="56">
                  <c:v>0.728</c:v>
                </c:pt>
                <c:pt idx="57">
                  <c:v>0.728</c:v>
                </c:pt>
                <c:pt idx="58">
                  <c:v>0.728</c:v>
                </c:pt>
                <c:pt idx="59">
                  <c:v>0.727</c:v>
                </c:pt>
              </c:numCache>
            </c:numRef>
          </c:val>
          <c:smooth val="0"/>
        </c:ser>
        <c:ser>
          <c:idx val="1"/>
          <c:order val="1"/>
          <c:tx>
            <c:strRef>
              <c:f>Sheet1!$C$1</c:f>
              <c:strCache>
                <c:ptCount val="1"/>
                <c:pt idx="0">
                  <c:v>Recall</c:v>
                </c:pt>
              </c:strCache>
            </c:strRef>
          </c:tx>
          <c:spPr>
            <a:solidFill>
              <a:srgbClr val="4A5562"/>
            </a:solidFill>
            <a:ln w="31750" cap="flat">
              <a:solidFill>
                <a:srgbClr val="4A5562"/>
              </a:solidFill>
              <a:prstDash val="solid"/>
              <a:round/>
            </a:ln>
            <a:effectLst/>
          </c:spPr>
          <c:invertIfNegative val="0"/>
          <c:dLbls>
            <c:numFmt formatCode="#,##0" sourceLinked="0"/>
            <c:txPr>
              <a:bodyPr/>
              <a:lstStyle/>
              <a:p>
                <a:pPr>
                  <a:defRPr b="0" i="0" strike="noStrike" sz="1100" u="none">
                    <a:solidFill>
                      <a:srgbClr val="1C2126"/>
                    </a:solidFill>
                    <a:latin typeface="+mn-lt"/>
                  </a:defRPr>
                </a:pPr>
              </a:p>
            </c:txPr>
            <c:showLegendKey val="0"/>
            <c:showVal val="0"/>
            <c:showCatName val="0"/>
            <c:showSerName val="0"/>
            <c:showPercent val="0"/>
            <c:showBubbleSize val="0"/>
            <c:showLeaderLines val="0"/>
          </c:dLbls>
          <c:marker>
            <c:symbol val="none"/>
            <c:size val="6"/>
            <c:spPr>
              <a:solidFill>
                <a:srgbClr val="4A5562"/>
              </a:solidFill>
              <a:ln w="9525" cap="flat">
                <a:solidFill>
                  <a:srgbClr val="4A5562"/>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Sheet1!$C$2:$C$61</c:f>
              <c:numCache>
                <c:formatCode>General</c:formatCode>
                <c:ptCount val="60"/>
                <c:pt idx="0">
                  <c:v>0.467</c:v>
                </c:pt>
                <c:pt idx="1">
                  <c:v>0.344</c:v>
                </c:pt>
                <c:pt idx="2">
                  <c:v>0.335</c:v>
                </c:pt>
                <c:pt idx="3">
                  <c:v>0.411</c:v>
                </c:pt>
                <c:pt idx="4">
                  <c:v>0.454</c:v>
                </c:pt>
                <c:pt idx="5">
                  <c:v>0.489</c:v>
                </c:pt>
                <c:pt idx="6">
                  <c:v>0.484</c:v>
                </c:pt>
                <c:pt idx="7">
                  <c:v>0.541</c:v>
                </c:pt>
                <c:pt idx="8">
                  <c:v>0.515</c:v>
                </c:pt>
                <c:pt idx="9">
                  <c:v>0.575</c:v>
                </c:pt>
                <c:pt idx="10">
                  <c:v>0.548</c:v>
                </c:pt>
                <c:pt idx="11">
                  <c:v>0.583</c:v>
                </c:pt>
                <c:pt idx="12">
                  <c:v>0.586</c:v>
                </c:pt>
                <c:pt idx="13">
                  <c:v>0.609</c:v>
                </c:pt>
                <c:pt idx="14">
                  <c:v>0.603</c:v>
                </c:pt>
                <c:pt idx="15">
                  <c:v>0.61</c:v>
                </c:pt>
                <c:pt idx="16">
                  <c:v>0.623</c:v>
                </c:pt>
                <c:pt idx="17">
                  <c:v>0.618</c:v>
                </c:pt>
                <c:pt idx="18">
                  <c:v>0.635</c:v>
                </c:pt>
                <c:pt idx="19">
                  <c:v>0.633</c:v>
                </c:pt>
                <c:pt idx="20">
                  <c:v>0.631</c:v>
                </c:pt>
                <c:pt idx="21">
                  <c:v>0.648</c:v>
                </c:pt>
                <c:pt idx="22">
                  <c:v>0.646</c:v>
                </c:pt>
                <c:pt idx="23">
                  <c:v>0.654</c:v>
                </c:pt>
                <c:pt idx="24">
                  <c:v>0.647</c:v>
                </c:pt>
                <c:pt idx="25">
                  <c:v>0.654</c:v>
                </c:pt>
                <c:pt idx="26">
                  <c:v>0.648</c:v>
                </c:pt>
                <c:pt idx="27">
                  <c:v>0.671</c:v>
                </c:pt>
                <c:pt idx="28">
                  <c:v>0.665</c:v>
                </c:pt>
                <c:pt idx="29">
                  <c:v>0.66</c:v>
                </c:pt>
                <c:pt idx="30">
                  <c:v>0.662</c:v>
                </c:pt>
                <c:pt idx="31">
                  <c:v>0.657</c:v>
                </c:pt>
                <c:pt idx="32">
                  <c:v>0.664</c:v>
                </c:pt>
                <c:pt idx="33">
                  <c:v>0.659</c:v>
                </c:pt>
                <c:pt idx="34">
                  <c:v>0.662</c:v>
                </c:pt>
                <c:pt idx="35">
                  <c:v>0.675</c:v>
                </c:pt>
                <c:pt idx="36">
                  <c:v>0.67</c:v>
                </c:pt>
                <c:pt idx="37">
                  <c:v>0.658</c:v>
                </c:pt>
                <c:pt idx="38">
                  <c:v>0.657</c:v>
                </c:pt>
                <c:pt idx="39">
                  <c:v>0.664</c:v>
                </c:pt>
                <c:pt idx="40">
                  <c:v>0.686</c:v>
                </c:pt>
                <c:pt idx="41">
                  <c:v>0.668</c:v>
                </c:pt>
                <c:pt idx="42">
                  <c:v>0.66</c:v>
                </c:pt>
                <c:pt idx="43">
                  <c:v>0.665</c:v>
                </c:pt>
                <c:pt idx="44">
                  <c:v>0.663</c:v>
                </c:pt>
                <c:pt idx="45">
                  <c:v>0.67</c:v>
                </c:pt>
                <c:pt idx="46">
                  <c:v>0.681</c:v>
                </c:pt>
                <c:pt idx="47">
                  <c:v>0.677</c:v>
                </c:pt>
                <c:pt idx="48">
                  <c:v>0.678</c:v>
                </c:pt>
                <c:pt idx="49">
                  <c:v>0.682</c:v>
                </c:pt>
                <c:pt idx="50">
                  <c:v>0.679</c:v>
                </c:pt>
                <c:pt idx="51">
                  <c:v>0.686</c:v>
                </c:pt>
                <c:pt idx="52">
                  <c:v>0.679</c:v>
                </c:pt>
                <c:pt idx="53">
                  <c:v>0.679</c:v>
                </c:pt>
                <c:pt idx="54">
                  <c:v>0.681</c:v>
                </c:pt>
                <c:pt idx="55">
                  <c:v>0.688</c:v>
                </c:pt>
                <c:pt idx="56">
                  <c:v>0.69</c:v>
                </c:pt>
                <c:pt idx="57">
                  <c:v>0.69</c:v>
                </c:pt>
                <c:pt idx="58">
                  <c:v>0.692</c:v>
                </c:pt>
                <c:pt idx="59">
                  <c:v>0.691</c:v>
                </c:pt>
              </c:numCache>
            </c:numRef>
          </c:val>
          <c:smooth val="0"/>
        </c:ser>
        <c:dLbls>
          <c:numFmt formatCode="#,##0" sourceLinked="0"/>
          <c:txPr>
            <a:bodyPr/>
            <a:lstStyle/>
            <a:p>
              <a:pPr>
                <a:defRPr b="0" i="0" strike="noStrike" sz="1100" u="none">
                  <a:solidFill>
                    <a:srgbClr val="1C212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562"/>
                    </a:solidFill>
                    <a:latin typeface="+mn-lt"/>
                  </a:defRPr>
                </a:pPr>
                <a:r>
                  <a:rPr sz="1200" b="0" i="0" u="none" strike="noStrike">
                    <a:solidFill>
                      <a:srgbClr val="4A5562"/>
                    </a:solidFill>
                    <a:latin typeface="+mn-lt"/>
                  </a:rPr>
                  <a:t>Epoch</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4A5562"/>
                </a:solidFill>
                <a:latin typeface="+mn-lt"/>
              </a:defRPr>
            </a:pPr>
            <a:endParaRPr lang="en-US"/>
          </a:p>
        </c:txPr>
        <c:crossAx val="2094734552"/>
        <c:crosses val="autoZero"/>
        <c:auto val="1"/>
        <c:lblAlgn val="ctr"/>
        <c:noMultiLvlLbl val="1"/>
        <c:tickLblSkip val="10"/>
      </c:catAx>
      <c:valAx>
        <c:axId val="2094734552"/>
        <c:scaling>
          <c:orientation val="minMax"/>
          <c:max val="0.8"/>
          <c:min val="0.3"/>
        </c:scaling>
        <c:delete val="0"/>
        <c:axPos val="l"/>
        <c:majorGridlines>
          <c:spPr>
            <a:ln w="9525" cap="flat">
              <a:solidFill>
                <a:srgbClr val="DDE1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4A5562"/>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200">
              <a:solidFill>
                <a:srgbClr val="4A556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6"/>
                </a:solidFill>
                <a:latin typeface="+mn-lt"/>
              </a:defRPr>
            </a:pPr>
            <a:r>
              <a:rPr sz="1400" b="0" i="0" u="none" strike="noStrike">
                <a:solidFill>
                  <a:srgbClr val="1C2126"/>
                </a:solidFill>
                <a:latin typeface="+mn-lt"/>
              </a:rPr>
              <a:t>Box-level scores per class, merged validation set</a:t>
            </a:r>
          </a:p>
        </c:rich>
      </c:tx>
      <c:layout/>
      <c:overlay val="0"/>
    </c:title>
    <c:autoTitleDeleted val="0"/>
    <c:plotArea>
      <c:layout/>
      <c:barChart>
        <c:barDir val="col"/>
        <c:grouping val="clustered"/>
        <c:varyColors val="0"/>
        <c:ser>
          <c:idx val="0"/>
          <c:order val="0"/>
          <c:tx>
            <c:strRef>
              <c:f>Sheet1!$B$1</c:f>
              <c:strCache>
                <c:ptCount val="1"/>
                <c:pt idx="0">
                  <c:v>Recall</c:v>
                </c:pt>
              </c:strCache>
            </c:strRef>
          </c:tx>
          <c:spPr>
            <a:solidFill>
              <a:srgbClr val="4A5562"/>
            </a:solidFill>
            <a:effectLst/>
          </c:spPr>
          <c:invertIfNegative val="0"/>
          <c:dLbls>
            <c:numFmt formatCode="0.0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cat>
            <c:multiLvlStrRef>
              <c:f>Sheet1!$A$2:$A$4</c:f>
              <c:multiLvlStrCache>
                <c:ptCount val="3"/>
                <c:lvl>
                  <c:pt idx="0">
                    <c:v>Pothole</c:v>
                  </c:pt>
                  <c:pt idx="1">
                    <c:v>Crack</c:v>
                  </c:pt>
                  <c:pt idx="2">
                    <c:v>Alligator crack</c:v>
                  </c:pt>
                </c:lvl>
              </c:multiLvlStrCache>
            </c:multiLvlStrRef>
          </c:cat>
          <c:val>
            <c:numRef>
              <c:f>Sheet1!$B$2:$B$4</c:f>
              <c:numCache>
                <c:formatCode>General</c:formatCode>
                <c:ptCount val="3"/>
                <c:pt idx="0">
                  <c:v>0.54</c:v>
                </c:pt>
                <c:pt idx="1">
                  <c:v>0.62</c:v>
                </c:pt>
                <c:pt idx="2">
                  <c:v>0.65</c:v>
                </c:pt>
              </c:numCache>
            </c:numRef>
          </c:val>
        </c:ser>
        <c:ser>
          <c:idx val="1"/>
          <c:order val="1"/>
          <c:tx>
            <c:strRef>
              <c:f>Sheet1!$C$1</c:f>
              <c:strCache>
                <c:ptCount val="1"/>
                <c:pt idx="0">
                  <c:v>mAP50</c:v>
                </c:pt>
              </c:strCache>
            </c:strRef>
          </c:tx>
          <c:spPr>
            <a:solidFill>
              <a:srgbClr val="F2A900"/>
            </a:solidFill>
            <a:effectLst/>
          </c:spPr>
          <c:invertIfNegative val="0"/>
          <c:dLbls>
            <c:numFmt formatCode="0.0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cat>
            <c:multiLvlStrRef>
              <c:f>Sheet1!$A$2:$A$4</c:f>
              <c:multiLvlStrCache>
                <c:ptCount val="3"/>
                <c:lvl>
                  <c:pt idx="0">
                    <c:v>Pothole</c:v>
                  </c:pt>
                  <c:pt idx="1">
                    <c:v>Crack</c:v>
                  </c:pt>
                  <c:pt idx="2">
                    <c:v>Alligator crack</c:v>
                  </c:pt>
                </c:lvl>
              </c:multiLvlStrCache>
            </c:multiLvlStrRef>
          </c:cat>
          <c:val>
            <c:numRef>
              <c:f>Sheet1!$C$2:$C$4</c:f>
              <c:numCache>
                <c:formatCode>General</c:formatCode>
                <c:ptCount val="3"/>
                <c:pt idx="0">
                  <c:v>0.6</c:v>
                </c:pt>
                <c:pt idx="1">
                  <c:v>0.66</c:v>
                </c:pt>
                <c:pt idx="2">
                  <c:v>0.72</c:v>
                </c:pt>
              </c:numCache>
            </c:numRef>
          </c:val>
        </c:ser>
        <c:dLbls>
          <c:numFmt formatCode="0.0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A556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1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4A5562"/>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solidFill>
                <a:srgbClr val="4A556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6"/>
                </a:solidFill>
                <a:latin typeface="+mn-lt"/>
              </a:defRPr>
            </a:pPr>
            <a:r>
              <a:rPr sz="1400" b="0" i="0" u="none" strike="noStrike">
                <a:solidFill>
                  <a:srgbClr val="1C2126"/>
                </a:solidFill>
                <a:latin typeface="+mn-lt"/>
              </a:rPr>
              <a:t>Frame-level pothole results, validation set</a:t>
            </a:r>
          </a:p>
        </c:rich>
      </c:tx>
      <c:layout/>
      <c:overlay val="0"/>
    </c:title>
    <c:autoTitleDeleted val="0"/>
    <c:plotArea>
      <c:layout/>
      <c:barChart>
        <c:barDir val="col"/>
        <c:grouping val="clustered"/>
        <c:varyColors val="0"/>
        <c:ser>
          <c:idx val="0"/>
          <c:order val="0"/>
          <c:tx>
            <c:strRef>
              <c:f>Sheet1!$B$1</c:f>
              <c:strCache>
                <c:ptCount val="1"/>
                <c:pt idx="0">
                  <c:v>Pothole recall</c:v>
                </c:pt>
              </c:strCache>
            </c:strRef>
          </c:tx>
          <c:spPr>
            <a:solidFill>
              <a:srgbClr val="C0392B"/>
            </a:solidFill>
            <a:effectLst/>
          </c:spPr>
          <c:invertIfNegative val="0"/>
          <c:dLbls>
            <c:numFmt formatCode="0.0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cat>
            <c:multiLvlStrRef>
              <c:f>Sheet1!$A$2:$A$6</c:f>
              <c:multiLvlStrCache>
                <c:ptCount val="5"/>
                <c:lvl>
                  <c:pt idx="0">
                    <c:v>0.15</c:v>
                  </c:pt>
                  <c:pt idx="1">
                    <c:v>0.20</c:v>
                  </c:pt>
                  <c:pt idx="2">
                    <c:v>0.25</c:v>
                  </c:pt>
                  <c:pt idx="3">
                    <c:v>0.30</c:v>
                  </c:pt>
                  <c:pt idx="4">
                    <c:v>0.40</c:v>
                  </c:pt>
                </c:lvl>
              </c:multiLvlStrCache>
            </c:multiLvlStrRef>
          </c:cat>
          <c:val>
            <c:numRef>
              <c:f>Sheet1!$B$2:$B$6</c:f>
              <c:numCache>
                <c:formatCode>General</c:formatCode>
                <c:ptCount val="5"/>
                <c:pt idx="0">
                  <c:v>0.815</c:v>
                </c:pt>
                <c:pt idx="1">
                  <c:v>0.769</c:v>
                </c:pt>
                <c:pt idx="2">
                  <c:v>0.743</c:v>
                </c:pt>
                <c:pt idx="3">
                  <c:v>0.717</c:v>
                </c:pt>
                <c:pt idx="4">
                  <c:v>0.645</c:v>
                </c:pt>
              </c:numCache>
            </c:numRef>
          </c:val>
        </c:ser>
        <c:ser>
          <c:idx val="1"/>
          <c:order val="1"/>
          <c:tx>
            <c:strRef>
              <c:f>Sheet1!$C$1</c:f>
              <c:strCache>
                <c:ptCount val="1"/>
                <c:pt idx="0">
                  <c:v>Pothole precision</c:v>
                </c:pt>
              </c:strCache>
            </c:strRef>
          </c:tx>
          <c:spPr>
            <a:solidFill>
              <a:srgbClr val="4A5562"/>
            </a:solidFill>
            <a:effectLst/>
          </c:spPr>
          <c:invertIfNegative val="0"/>
          <c:dLbls>
            <c:numFmt formatCode="0.0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cat>
            <c:multiLvlStrRef>
              <c:f>Sheet1!$A$2:$A$6</c:f>
              <c:multiLvlStrCache>
                <c:ptCount val="5"/>
                <c:lvl>
                  <c:pt idx="0">
                    <c:v>0.15</c:v>
                  </c:pt>
                  <c:pt idx="1">
                    <c:v>0.20</c:v>
                  </c:pt>
                  <c:pt idx="2">
                    <c:v>0.25</c:v>
                  </c:pt>
                  <c:pt idx="3">
                    <c:v>0.30</c:v>
                  </c:pt>
                  <c:pt idx="4">
                    <c:v>0.40</c:v>
                  </c:pt>
                </c:lvl>
              </c:multiLvlStrCache>
            </c:multiLvlStrRef>
          </c:cat>
          <c:val>
            <c:numRef>
              <c:f>Sheet1!$C$2:$C$6</c:f>
              <c:numCache>
                <c:formatCode>General</c:formatCode>
                <c:ptCount val="5"/>
                <c:pt idx="0">
                  <c:v>0.785</c:v>
                </c:pt>
                <c:pt idx="1">
                  <c:v>0.838</c:v>
                </c:pt>
                <c:pt idx="2">
                  <c:v>0.87</c:v>
                </c:pt>
                <c:pt idx="3">
                  <c:v>0.897</c:v>
                </c:pt>
                <c:pt idx="4">
                  <c:v>0.93</c:v>
                </c:pt>
              </c:numCache>
            </c:numRef>
          </c:val>
        </c:ser>
        <c:dLbls>
          <c:numFmt formatCode="0.0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4A5562"/>
                    </a:solidFill>
                    <a:latin typeface="+mn-lt"/>
                  </a:defRPr>
                </a:pPr>
                <a:r>
                  <a:rPr sz="1200" b="0" i="0" u="none" strike="noStrike">
                    <a:solidFill>
                      <a:srgbClr val="4A5562"/>
                    </a:solidFill>
                    <a:latin typeface="+mn-lt"/>
                  </a:rPr>
                  <a:t>Detection confidence threshold</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4A5562"/>
                </a:solidFill>
                <a:latin typeface="+mn-lt"/>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9525" cap="flat">
              <a:solidFill>
                <a:srgbClr val="DDE1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4A5562"/>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200">
              <a:solidFill>
                <a:srgbClr val="4A556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6"/>
                </a:solidFill>
                <a:latin typeface="+mn-lt"/>
              </a:defRPr>
            </a:pPr>
            <a:r>
              <a:rPr sz="1400" b="0" i="0" u="none" strike="noStrike">
                <a:solidFill>
                  <a:srgbClr val="1C2126"/>
                </a:solidFill>
                <a:latin typeface="+mn-lt"/>
              </a:rPr>
              <a:t>Recall per class, test set</a:t>
            </a:r>
          </a:p>
        </c:rich>
      </c:tx>
      <c:layout/>
      <c:overlay val="0"/>
    </c:title>
    <c:autoTitleDeleted val="0"/>
    <c:plotArea>
      <c:layout/>
      <c:barChart>
        <c:barDir val="col"/>
        <c:grouping val="clustered"/>
        <c:varyColors val="0"/>
        <c:ser>
          <c:idx val="0"/>
          <c:order val="0"/>
          <c:tx>
            <c:strRef>
              <c:f>Sheet1!$B$1</c:f>
              <c:strCache>
                <c:ptCount val="1"/>
                <c:pt idx="0">
                  <c:v>Before (summed area, 5%)</c:v>
                </c:pt>
              </c:strCache>
            </c:strRef>
          </c:tx>
          <c:spPr>
            <a:solidFill>
              <a:srgbClr val="8C96A3"/>
            </a:solidFill>
            <a:effectLst/>
          </c:spPr>
          <c:invertIfNegative val="0"/>
          <c:dLbls>
            <c:numFmt formatCode="0.0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cat>
            <c:multiLvlStrRef>
              <c:f>Sheet1!$A$2:$A$5</c:f>
              <c:multiLvlStrCache>
                <c:ptCount val="4"/>
                <c:lvl>
                  <c:pt idx="0">
                    <c:v>Smooth</c:v>
                  </c:pt>
                  <c:pt idx="1">
                    <c:v>Normal</c:v>
                  </c:pt>
                  <c:pt idx="2">
                    <c:v>Rough</c:v>
                  </c:pt>
                  <c:pt idx="3">
                    <c:v>Pothole</c:v>
                  </c:pt>
                </c:lvl>
              </c:multiLvlStrCache>
            </c:multiLvlStrRef>
          </c:cat>
          <c:val>
            <c:numRef>
              <c:f>Sheet1!$B$2:$B$5</c:f>
              <c:numCache>
                <c:formatCode>General</c:formatCode>
                <c:ptCount val="4"/>
                <c:pt idx="0">
                  <c:v>0.79</c:v>
                </c:pt>
                <c:pt idx="1">
                  <c:v>0.56</c:v>
                </c:pt>
                <c:pt idx="2">
                  <c:v>0.91</c:v>
                </c:pt>
                <c:pt idx="3">
                  <c:v>0.86</c:v>
                </c:pt>
              </c:numCache>
            </c:numRef>
          </c:val>
        </c:ser>
        <c:ser>
          <c:idx val="1"/>
          <c:order val="1"/>
          <c:tx>
            <c:strRef>
              <c:f>Sheet1!$C$1</c:f>
              <c:strCache>
                <c:ptCount val="1"/>
                <c:pt idx="0">
                  <c:v>After (combined area, 7%)</c:v>
                </c:pt>
              </c:strCache>
            </c:strRef>
          </c:tx>
          <c:spPr>
            <a:solidFill>
              <a:srgbClr val="2E9E5B"/>
            </a:solidFill>
            <a:effectLst/>
          </c:spPr>
          <c:invertIfNegative val="0"/>
          <c:dLbls>
            <c:numFmt formatCode="0.0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cat>
            <c:multiLvlStrRef>
              <c:f>Sheet1!$A$2:$A$5</c:f>
              <c:multiLvlStrCache>
                <c:ptCount val="4"/>
                <c:lvl>
                  <c:pt idx="0">
                    <c:v>Smooth</c:v>
                  </c:pt>
                  <c:pt idx="1">
                    <c:v>Normal</c:v>
                  </c:pt>
                  <c:pt idx="2">
                    <c:v>Rough</c:v>
                  </c:pt>
                  <c:pt idx="3">
                    <c:v>Pothole</c:v>
                  </c:pt>
                </c:lvl>
              </c:multiLvlStrCache>
            </c:multiLvlStrRef>
          </c:cat>
          <c:val>
            <c:numRef>
              <c:f>Sheet1!$C$2:$C$5</c:f>
              <c:numCache>
                <c:formatCode>General</c:formatCode>
                <c:ptCount val="4"/>
                <c:pt idx="0">
                  <c:v>0.79</c:v>
                </c:pt>
                <c:pt idx="1">
                  <c:v>0.71</c:v>
                </c:pt>
                <c:pt idx="2">
                  <c:v>0.89</c:v>
                </c:pt>
                <c:pt idx="3">
                  <c:v>0.86</c:v>
                </c:pt>
              </c:numCache>
            </c:numRef>
          </c:val>
        </c:ser>
        <c:dLbls>
          <c:numFmt formatCode="0.00" sourceLinked="0"/>
          <c:txPr>
            <a:bodyPr/>
            <a:lstStyle/>
            <a:p>
              <a:pPr>
                <a:defRPr b="0" i="0" strike="noStrike" sz="1100" u="none">
                  <a:solidFill>
                    <a:srgbClr val="1C21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A556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1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4A5562"/>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solidFill>
                <a:srgbClr val="4A556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6"/>
                </a:solidFill>
                <a:latin typeface="+mn-lt"/>
              </a:defRPr>
            </a:pPr>
            <a:r>
              <a:rPr sz="1400" b="0" i="0" u="none" strike="noStrike">
                <a:solidFill>
                  <a:srgbClr val="1C2126"/>
                </a:solidFill>
                <a:latin typeface="+mn-lt"/>
              </a:rPr>
              <a:t>Share of 2,378 test frames</a:t>
            </a:r>
          </a:p>
        </c:rich>
      </c:tx>
      <c:layout/>
      <c:overlay val="0"/>
    </c:title>
    <c:autoTitleDeleted val="0"/>
    <c:plotArea>
      <c:layout/>
      <c:doughnutChart>
        <c:varyColors val="1"/>
        <c:ser>
          <c:idx val="0"/>
          <c:order val="0"/>
          <c:tx>
            <c:strRef>
              <c:f>Sheet1!$B$1</c:f>
              <c:strCache>
                <c:ptCount val="1"/>
                <c:pt idx="0">
                  <c:v>Test frames</c:v>
                </c:pt>
              </c:strCache>
            </c:strRef>
          </c:tx>
          <c:spPr>
            <a:solidFill>
              <a:schemeClr val="accent1"/>
            </a:solidFill>
            <a:ln w="9525" cap="flat">
              <a:solidFill>
                <a:srgbClr val="F9F9F9"/>
              </a:solidFill>
              <a:prstDash val="solid"/>
              <a:round/>
            </a:ln>
            <a:effectLst/>
          </c:spPr>
          <c:dPt>
            <c:idx val="0"/>
            <c:bubble3D val="0"/>
            <c:spPr>
              <a:solidFill>
                <a:srgbClr val="2E9E5B"/>
              </a:solidFill>
              <a:effectLst/>
            </c:spPr>
          </c:dPt>
          <c:dPt>
            <c:idx val="1"/>
            <c:bubble3D val="0"/>
            <c:spPr>
              <a:solidFill>
                <a:srgbClr val="F2A900"/>
              </a:solidFill>
              <a:effectLst/>
            </c:spPr>
          </c:dPt>
          <c:dPt>
            <c:idx val="2"/>
            <c:bubble3D val="0"/>
            <c:spPr>
              <a:solidFill>
                <a:srgbClr val="E67E22"/>
              </a:solidFill>
              <a:effectLst/>
            </c:spPr>
          </c:dPt>
          <c:dPt>
            <c:idx val="3"/>
            <c:bubble3D val="0"/>
            <c:spPr>
              <a:solidFill>
                <a:srgbClr val="C0392B"/>
              </a:solidFill>
              <a:effectLst/>
            </c:spPr>
          </c:dPt>
          <c:dLbls>
            <c:dLbl>
              <c:idx val="0"/>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mn-lt"/>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Correct</c:v>
                </c:pt>
                <c:pt idx="1">
                  <c:v>Over-estimate</c:v>
                </c:pt>
                <c:pt idx="2">
                  <c:v>Under by 1 level</c:v>
                </c:pt>
                <c:pt idx="3">
                  <c:v>Under by 2+ levels</c:v>
                </c:pt>
              </c:strCache>
            </c:strRef>
          </c:cat>
          <c:val>
            <c:numRef>
              <c:f>Sheet1!$B$2:$B$5</c:f>
              <c:numCache>
                <c:ptCount val="4"/>
                <c:pt idx="0">
                  <c:v>82.8</c:v>
                </c:pt>
                <c:pt idx="1">
                  <c:v>9.2</c:v>
                </c:pt>
                <c:pt idx="2">
                  <c:v>5.4</c:v>
                </c:pt>
                <c:pt idx="3">
                  <c:v>2.6</c:v>
                </c:pt>
              </c:numCache>
            </c:numRef>
          </c:val>
        </c:ser>
        <c:firstSliceAng val="0"/>
        <c:holeSize val="55"/>
      </c:doughnutChart>
      <c:spPr>
        <a:noFill/>
        <a:ln>
          <a:noFill/>
        </a:ln>
        <a:effectLst/>
      </c:spPr>
    </c:plotArea>
    <c:legend>
      <c:legendPos val="b"/>
      <c:overlay val="0"/>
      <c:txPr>
        <a:bodyPr/>
        <a:lstStyle/>
        <a:p>
          <a:pPr>
            <a:defRPr sz="1200">
              <a:solidFill>
                <a:srgbClr val="4A556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reports the results of the road-perception model only: a YOLOv8s detector trained on RDD2022 plus a Kaggle pothole and crack dataset, whose detections are turned into the four road classes and the RSI values from the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at the level the controller cares about — is there a pothole in this frame — the model catches 86% of pothole frames, and 86% of its pothole calls are right. Road class accuracy over all four classes is 82.8%. The weakest class is Normal road, which a rule fix raised from 56% to 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six goals are met or partly met. The two that matter most for the grant — real-time on Jetson and seeing defects early enough to be predictive — are not demonstrated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links given to us point to the same dataset, RDD2022. We combined it with the Kaggle set by mapping both onto three shared classes: pothole, crack and alligator crack. Utility covers and road markings were dropped because they are not road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Pothole training boxes went from 1,080 to 5,880. The split keeps consecutive dashcam frames together, otherwise near-identical frames would land in both train and test and inflate the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frame goes through the detector. A simple rule turns the boxes into one of the four road classes, each mapped to the proposal's RSI value. The peak-hold state machine from the teammate's code raises the class instantly but only lowers it after 10 frames, so the suspension doesn't soften before the wheel has passed the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dip at epochs 2 and 3 is YOLO's learning-rate warm-up. After about epoch 40 the curve is flat, so more epochs of the same model would not help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box, alligator cracks score best at 0.72 mAP50 and potholes are hardest at 0.60. This is driven by small potholes in the dashcam images. For suspension control what matters is whether the frame contains a pothole, which is measured on the following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confidence thresholds were compared on the validation set. We picked the lowest because it gives the best pothole recall; the price is more false pothole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and Pothole are classified well. Normal is still the weakest class at 71%: most of its errors are frames called Rough, because the line between them is a crack-area threshold, not measured roughness. Note that the true class here is computed from boxes, not labelled by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all 486 true-Normal test frames showed 27% were pushed into Rough because predicted crack area was overestimated. Counting the combined area of the crack boxes and moving the line to 7% fixed most of this without retraining. The true class is still defined by the original 5% rule on labelled boxes, so before and after are scored against the same answers. Adding Norway was considered: it would mainly help the 8% of Normal frames where thin cracks are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mistakes cost the same. The model over-estimates more often than it under-estimates, which means a stiffer, safer ride. The dangerous case — a pothole treated as smooth or normal road — happens in about 7% of pothole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comparison with the old Kaggle-only model: per box, pothole recall moved only from 0.55 to 0.59. The real gain is that the model now works on dashcam footage, where it flags 84% of pothole frames. Do not compare the old 0.55 with the new 0.86 — they measure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Frames from the three road-surface test videos with the model's boxes; the chip shows the road class the system output. Potholes and cracks are found; the only errors seen were brief false potholes on a wide crack. Only the second clip is from a dashcam, so none of these tests our own vehicle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known weaknesses of the current model. Right: claims in the proposal that these results cannot yet support — real-time speed on the Jetson, how far ahead it sees, and performance on our own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next step is our own dashcam footage: it answers how far ahead the model sees and how it performs on real roads. Jetson speed and the Normal/Rough recalibration follow, then wiring the RSI into the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154680"/>
            <a:ext cx="10698480" cy="82296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Road Perception  ·  Edge-AI Adaptive Suspension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jpg"/><Relationship Id="rId4" Type="http://schemas.openxmlformats.org/officeDocument/2006/relationships/image" Target="../media/image-14-4.png"/><Relationship Id="rId5" Type="http://schemas.openxmlformats.org/officeDocument/2006/relationships/image" Target="../media/image-14-5.jp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rPr>
              <a:t>Road Perception: Model Results</a:t>
            </a:r>
            <a:endParaRPr lang="en-US" sz="4400" dirty="0"/>
          </a:p>
        </p:txBody>
      </p:sp>
      <p:sp>
        <p:nvSpPr>
          <p:cNvPr id="3" name="Text 0"/>
          <p:cNvSpPr/>
          <p:nvPr>
            <p:ph idx="101" type="body" hasCustomPrompt="1"/>
          </p:nvPr>
        </p:nvSpPr>
        <p:spPr>
          <a:xfrm>
            <a:off x="731520" y="3154680"/>
            <a:ext cx="10698480" cy="822960"/>
          </a:xfrm>
          <a:prstGeom prst="rect">
            <a:avLst/>
          </a:prstGeom>
          <a:noFill/>
          <a:ln/>
        </p:spPr>
        <p:txBody>
          <a:bodyPr wrap="square" lIns="0" tIns="0" rIns="0" bIns="0" rtlCol="0" anchor="t"/>
          <a:lstStyle/>
          <a:p>
            <a:pPr indent="0" marL="0">
              <a:buNone/>
            </a:pPr>
            <a:r>
              <a:rPr lang="en-US" sz="2200" dirty="0">
                <a:solidFill>
                  <a:schemeClr val="accent1"/>
                </a:solidFill>
              </a:rPr>
              <a:t>Merged-dataset YOLOv8s detector → Road Severity Index (RSI)</a:t>
            </a:r>
            <a:endParaRPr lang="en-US" sz="2200" dirty="0"/>
          </a:p>
        </p:txBody>
      </p:sp>
      <p:sp>
        <p:nvSpPr>
          <p:cNvPr id="4" name="Text 2"/>
          <p:cNvSpPr txBox="1"/>
          <p:nvPr/>
        </p:nvSpPr>
        <p:spPr>
          <a:xfrm>
            <a:off x="731520" y="4023360"/>
            <a:ext cx="10698480" cy="365760"/>
          </a:xfrm>
          <a:prstGeom prst="rect">
            <a:avLst/>
          </a:prstGeom>
          <a:noFill/>
          <a:ln/>
        </p:spPr>
        <p:txBody>
          <a:bodyPr wrap="square" lIns="0" tIns="0" rIns="0" bIns="0" rtlCol="0" anchor="ctr"/>
          <a:lstStyle/>
          <a:p>
            <a:pPr indent="0" marL="0">
              <a:buNone/>
            </a:pPr>
            <a:r>
              <a:rPr lang="en-US" sz="1400" dirty="0">
                <a:solidFill>
                  <a:schemeClr val="accent6"/>
                </a:solidFill>
              </a:rPr>
              <a:t>VIT  ·  Edge AI-based Adaptive Suspension System  ·  6 October 2026</a:t>
            </a:r>
            <a:endParaRPr lang="en-US" sz="1400" dirty="0"/>
          </a:p>
        </p:txBody>
      </p:sp>
      <p:sp>
        <p:nvSpPr>
          <p:cNvPr id="5" name="Smooth chip"/>
          <p:cNvSpPr txBox="1"/>
          <p:nvPr/>
        </p:nvSpPr>
        <p:spPr>
          <a:xfrm>
            <a:off x="731520" y="5120640"/>
            <a:ext cx="2148840" cy="640080"/>
          </a:xfrm>
          <a:prstGeom prst="roundRect">
            <a:avLst>
              <a:gd name="adj" fmla="val 11429"/>
            </a:avLst>
          </a:prstGeom>
          <a:solidFill>
            <a:schemeClr val="accent2"/>
          </a:solidFill>
          <a:ln/>
        </p:spPr>
        <p:txBody>
          <a:bodyPr wrap="square" lIns="0" tIns="0" rIns="0" bIns="0" rtlCol="0" anchor="ctr"/>
          <a:lstStyle/>
          <a:p>
            <a:pPr algn="ctr" indent="0" marL="0">
              <a:buNone/>
            </a:pPr>
            <a:r>
              <a:rPr lang="en-US" sz="1600" b="1" dirty="0">
                <a:solidFill>
                  <a:schemeClr val="bg1"/>
                </a:solidFill>
              </a:rPr>
              <a:t>Smooth  0.10</a:t>
            </a:r>
            <a:endParaRPr lang="en-US" sz="1600" dirty="0"/>
          </a:p>
        </p:txBody>
      </p:sp>
      <p:sp>
        <p:nvSpPr>
          <p:cNvPr id="6" name="Normal chip"/>
          <p:cNvSpPr txBox="1"/>
          <p:nvPr/>
        </p:nvSpPr>
        <p:spPr>
          <a:xfrm>
            <a:off x="3063240" y="5120640"/>
            <a:ext cx="2148840" cy="640080"/>
          </a:xfrm>
          <a:prstGeom prst="roundRect">
            <a:avLst>
              <a:gd name="adj" fmla="val 11429"/>
            </a:avLst>
          </a:prstGeom>
          <a:solidFill>
            <a:schemeClr val="accent3"/>
          </a:solidFill>
          <a:ln/>
        </p:spPr>
        <p:txBody>
          <a:bodyPr wrap="square" lIns="0" tIns="0" rIns="0" bIns="0" rtlCol="0" anchor="ctr"/>
          <a:lstStyle/>
          <a:p>
            <a:pPr algn="ctr" indent="0" marL="0">
              <a:buNone/>
            </a:pPr>
            <a:r>
              <a:rPr lang="en-US" sz="1600" b="1" dirty="0">
                <a:solidFill>
                  <a:schemeClr val="tx1"/>
                </a:solidFill>
              </a:rPr>
              <a:t>Normal  0.35</a:t>
            </a:r>
            <a:endParaRPr lang="en-US" sz="1600" dirty="0"/>
          </a:p>
        </p:txBody>
      </p:sp>
      <p:sp>
        <p:nvSpPr>
          <p:cNvPr id="7" name="Rough chip"/>
          <p:cNvSpPr txBox="1"/>
          <p:nvPr/>
        </p:nvSpPr>
        <p:spPr>
          <a:xfrm>
            <a:off x="5394960" y="5120640"/>
            <a:ext cx="2148840" cy="640080"/>
          </a:xfrm>
          <a:prstGeom prst="roundRect">
            <a:avLst>
              <a:gd name="adj" fmla="val 11429"/>
            </a:avLst>
          </a:prstGeom>
          <a:solidFill>
            <a:schemeClr val="accent4"/>
          </a:solidFill>
          <a:ln/>
        </p:spPr>
        <p:txBody>
          <a:bodyPr wrap="square" lIns="0" tIns="0" rIns="0" bIns="0" rtlCol="0" anchor="ctr"/>
          <a:lstStyle/>
          <a:p>
            <a:pPr algn="ctr" indent="0" marL="0">
              <a:buNone/>
            </a:pPr>
            <a:r>
              <a:rPr lang="en-US" sz="1600" b="1" dirty="0">
                <a:solidFill>
                  <a:schemeClr val="bg1"/>
                </a:solidFill>
              </a:rPr>
              <a:t>Rough  0.65</a:t>
            </a:r>
            <a:endParaRPr lang="en-US" sz="1600" dirty="0"/>
          </a:p>
        </p:txBody>
      </p:sp>
      <p:sp>
        <p:nvSpPr>
          <p:cNvPr id="8" name="Pothole chip"/>
          <p:cNvSpPr txBox="1"/>
          <p:nvPr/>
        </p:nvSpPr>
        <p:spPr>
          <a:xfrm>
            <a:off x="7726680" y="5120640"/>
            <a:ext cx="2148840" cy="640080"/>
          </a:xfrm>
          <a:prstGeom prst="roundRect">
            <a:avLst>
              <a:gd name="adj" fmla="val 11429"/>
            </a:avLst>
          </a:prstGeom>
          <a:solidFill>
            <a:schemeClr val="accent5"/>
          </a:solidFill>
          <a:ln/>
        </p:spPr>
        <p:txBody>
          <a:bodyPr wrap="square" lIns="0" tIns="0" rIns="0" bIns="0" rtlCol="0" anchor="ctr"/>
          <a:lstStyle/>
          <a:p>
            <a:pPr algn="ctr" indent="0" marL="0">
              <a:buNone/>
            </a:pPr>
            <a:r>
              <a:rPr lang="en-US" sz="1600" b="1" dirty="0">
                <a:solidFill>
                  <a:schemeClr val="bg1"/>
                </a:solidFill>
              </a:rPr>
              <a:t>Pothole  0.95</a:t>
            </a:r>
            <a:endParaRPr lang="en-US" sz="1600" dirty="0"/>
          </a:p>
        </p:txBody>
      </p:sp>
      <p:sp>
        <p:nvSpPr>
          <p:cNvPr id="9" name="Text 7"/>
          <p:cNvSpPr txBox="1"/>
          <p:nvPr/>
        </p:nvSpPr>
        <p:spPr>
          <a:xfrm>
            <a:off x="731520" y="5852160"/>
            <a:ext cx="10698480" cy="320040"/>
          </a:xfrm>
          <a:prstGeom prst="rect">
            <a:avLst/>
          </a:prstGeom>
          <a:noFill/>
          <a:ln/>
        </p:spPr>
        <p:txBody>
          <a:bodyPr wrap="square" lIns="0" tIns="0" rIns="0" bIns="0" rtlCol="0" anchor="ctr"/>
          <a:lstStyle/>
          <a:p>
            <a:pPr indent="0" marL="0">
              <a:buNone/>
            </a:pPr>
            <a:r>
              <a:rPr lang="en-US" sz="1200" dirty="0">
                <a:solidFill>
                  <a:schemeClr val="accent6"/>
                </a:solidFill>
              </a:rPr>
              <a:t>Road class  →  RSI sent to the STSMC controller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86% of pothole frames are flagged</a:t>
            </a:r>
            <a:endParaRPr lang="en-US" sz="3600" dirty="0"/>
          </a:p>
        </p:txBody>
      </p:sp>
      <p:sp>
        <p:nvSpPr>
          <p:cNvPr id="3" name="stat card 1"/>
          <p:cNvSpPr/>
          <p:nvPr/>
        </p:nvSpPr>
        <p:spPr>
          <a:xfrm>
            <a:off x="548640" y="1463040"/>
            <a:ext cx="2606040" cy="2743200"/>
          </a:xfrm>
          <a:prstGeom prst="roundRect">
            <a:avLst>
              <a:gd name="adj" fmla="val 3509"/>
            </a:avLst>
          </a:prstGeom>
          <a:solidFill>
            <a:schemeClr val="bg2"/>
          </a:solidFill>
          <a:ln/>
        </p:spPr>
      </p:sp>
      <p:sp>
        <p:nvSpPr>
          <p:cNvPr id="4" name="Text 2"/>
          <p:cNvSpPr txBox="1"/>
          <p:nvPr/>
        </p:nvSpPr>
        <p:spPr>
          <a:xfrm>
            <a:off x="777240" y="1691640"/>
            <a:ext cx="2148840" cy="1005840"/>
          </a:xfrm>
          <a:prstGeom prst="rect">
            <a:avLst/>
          </a:prstGeom>
          <a:noFill/>
          <a:ln/>
        </p:spPr>
        <p:txBody>
          <a:bodyPr wrap="square" lIns="0" tIns="0" rIns="0" bIns="0" rtlCol="0" anchor="ctr"/>
          <a:lstStyle/>
          <a:p>
            <a:pPr indent="0" marL="0">
              <a:buNone/>
            </a:pPr>
            <a:r>
              <a:rPr lang="en-US" sz="5400" b="1" dirty="0">
                <a:solidFill>
                  <a:schemeClr val="tx1"/>
                </a:solidFill>
                <a:latin typeface="Arial" pitchFamily="34" charset="0"/>
                <a:ea typeface="Arial" pitchFamily="34" charset="-122"/>
                <a:cs typeface="Arial" pitchFamily="34" charset="-120"/>
              </a:rPr>
              <a:t>82.8%</a:t>
            </a:r>
            <a:endParaRPr lang="en-US" sz="5400" dirty="0"/>
          </a:p>
        </p:txBody>
      </p:sp>
      <p:sp>
        <p:nvSpPr>
          <p:cNvPr id="5" name="Text 3"/>
          <p:cNvSpPr txBox="1"/>
          <p:nvPr/>
        </p:nvSpPr>
        <p:spPr>
          <a:xfrm>
            <a:off x="777240" y="2788920"/>
            <a:ext cx="2148840" cy="640080"/>
          </a:xfrm>
          <a:prstGeom prst="rect">
            <a:avLst/>
          </a:prstGeom>
          <a:noFill/>
          <a:ln/>
        </p:spPr>
        <p:txBody>
          <a:bodyPr wrap="square" lIns="0" tIns="0" rIns="0" bIns="0" rtlCol="0" anchor="t"/>
          <a:lstStyle/>
          <a:p>
            <a:pPr indent="0" marL="0">
              <a:buNone/>
            </a:pPr>
            <a:r>
              <a:rPr lang="en-US" sz="1600" b="1" dirty="0">
                <a:solidFill>
                  <a:schemeClr val="tx1"/>
                </a:solidFill>
              </a:rPr>
              <a:t>Road-class accuracy</a:t>
            </a:r>
            <a:endParaRPr lang="en-US" sz="1600" dirty="0"/>
          </a:p>
        </p:txBody>
      </p:sp>
      <p:sp>
        <p:nvSpPr>
          <p:cNvPr id="6" name="Text 4"/>
          <p:cNvSpPr txBox="1"/>
          <p:nvPr/>
        </p:nvSpPr>
        <p:spPr>
          <a:xfrm>
            <a:off x="777240" y="3429000"/>
            <a:ext cx="2148840" cy="548640"/>
          </a:xfrm>
          <a:prstGeom prst="rect">
            <a:avLst/>
          </a:prstGeom>
          <a:noFill/>
          <a:ln/>
        </p:spPr>
        <p:txBody>
          <a:bodyPr wrap="square" lIns="0" tIns="0" rIns="0" bIns="0" rtlCol="0" anchor="t"/>
          <a:lstStyle/>
          <a:p>
            <a:pPr indent="0" marL="0">
              <a:buNone/>
            </a:pPr>
            <a:r>
              <a:rPr lang="en-US" sz="1300" dirty="0">
                <a:solidFill>
                  <a:schemeClr val="tx2"/>
                </a:solidFill>
              </a:rPr>
              <a:t>2,378 held-out test images</a:t>
            </a:r>
            <a:endParaRPr lang="en-US" sz="1300" dirty="0"/>
          </a:p>
        </p:txBody>
      </p:sp>
      <p:sp>
        <p:nvSpPr>
          <p:cNvPr id="7" name="stat card 2"/>
          <p:cNvSpPr/>
          <p:nvPr/>
        </p:nvSpPr>
        <p:spPr>
          <a:xfrm>
            <a:off x="3383280" y="1463040"/>
            <a:ext cx="2606040" cy="2743200"/>
          </a:xfrm>
          <a:prstGeom prst="roundRect">
            <a:avLst>
              <a:gd name="adj" fmla="val 3509"/>
            </a:avLst>
          </a:prstGeom>
          <a:solidFill>
            <a:schemeClr val="bg2"/>
          </a:solidFill>
          <a:ln/>
        </p:spPr>
      </p:sp>
      <p:sp>
        <p:nvSpPr>
          <p:cNvPr id="8" name="Text 6"/>
          <p:cNvSpPr txBox="1"/>
          <p:nvPr/>
        </p:nvSpPr>
        <p:spPr>
          <a:xfrm>
            <a:off x="3611880" y="1691640"/>
            <a:ext cx="2148840" cy="1005840"/>
          </a:xfrm>
          <a:prstGeom prst="rect">
            <a:avLst/>
          </a:prstGeom>
          <a:noFill/>
          <a:ln/>
        </p:spPr>
        <p:txBody>
          <a:bodyPr wrap="square" lIns="0" tIns="0" rIns="0" bIns="0" rtlCol="0" anchor="ctr"/>
          <a:lstStyle/>
          <a:p>
            <a:pPr indent="0" marL="0">
              <a:buNone/>
            </a:pPr>
            <a:r>
              <a:rPr lang="en-US" sz="5400" b="1" dirty="0">
                <a:solidFill>
                  <a:schemeClr val="accent5"/>
                </a:solidFill>
                <a:latin typeface="Arial" pitchFamily="34" charset="0"/>
                <a:ea typeface="Arial" pitchFamily="34" charset="-122"/>
                <a:cs typeface="Arial" pitchFamily="34" charset="-120"/>
              </a:rPr>
              <a:t>86%</a:t>
            </a:r>
            <a:endParaRPr lang="en-US" sz="5400" dirty="0"/>
          </a:p>
        </p:txBody>
      </p:sp>
      <p:sp>
        <p:nvSpPr>
          <p:cNvPr id="9" name="Text 7"/>
          <p:cNvSpPr txBox="1"/>
          <p:nvPr/>
        </p:nvSpPr>
        <p:spPr>
          <a:xfrm>
            <a:off x="3611880" y="2788920"/>
            <a:ext cx="2148840" cy="640080"/>
          </a:xfrm>
          <a:prstGeom prst="rect">
            <a:avLst/>
          </a:prstGeom>
          <a:noFill/>
          <a:ln/>
        </p:spPr>
        <p:txBody>
          <a:bodyPr wrap="square" lIns="0" tIns="0" rIns="0" bIns="0" rtlCol="0" anchor="t"/>
          <a:lstStyle/>
          <a:p>
            <a:pPr indent="0" marL="0">
              <a:buNone/>
            </a:pPr>
            <a:r>
              <a:rPr lang="en-US" sz="1600" b="1" dirty="0">
                <a:solidFill>
                  <a:schemeClr val="tx1"/>
                </a:solidFill>
              </a:rPr>
              <a:t>Pothole frames flagged</a:t>
            </a:r>
            <a:endParaRPr lang="en-US" sz="1600" dirty="0"/>
          </a:p>
        </p:txBody>
      </p:sp>
      <p:sp>
        <p:nvSpPr>
          <p:cNvPr id="10" name="Text 8"/>
          <p:cNvSpPr txBox="1"/>
          <p:nvPr/>
        </p:nvSpPr>
        <p:spPr>
          <a:xfrm>
            <a:off x="3611880" y="3429000"/>
            <a:ext cx="2148840" cy="548640"/>
          </a:xfrm>
          <a:prstGeom prst="rect">
            <a:avLst/>
          </a:prstGeom>
          <a:noFill/>
          <a:ln/>
        </p:spPr>
        <p:txBody>
          <a:bodyPr wrap="square" lIns="0" tIns="0" rIns="0" bIns="0" rtlCol="0" anchor="t"/>
          <a:lstStyle/>
          <a:p>
            <a:pPr indent="0" marL="0">
              <a:buNone/>
            </a:pPr>
            <a:r>
              <a:rPr lang="en-US" sz="1300" dirty="0">
                <a:solidFill>
                  <a:schemeClr val="tx2"/>
                </a:solidFill>
              </a:rPr>
              <a:t>and 86% of pothole flags correct</a:t>
            </a:r>
            <a:endParaRPr lang="en-US" sz="1300" dirty="0"/>
          </a:p>
        </p:txBody>
      </p:sp>
      <p:sp>
        <p:nvSpPr>
          <p:cNvPr id="11" name="stat card 3"/>
          <p:cNvSpPr/>
          <p:nvPr/>
        </p:nvSpPr>
        <p:spPr>
          <a:xfrm>
            <a:off x="6217920" y="1463040"/>
            <a:ext cx="2606040" cy="2743200"/>
          </a:xfrm>
          <a:prstGeom prst="roundRect">
            <a:avLst>
              <a:gd name="adj" fmla="val 3509"/>
            </a:avLst>
          </a:prstGeom>
          <a:solidFill>
            <a:schemeClr val="bg2"/>
          </a:solidFill>
          <a:ln/>
        </p:spPr>
      </p:sp>
      <p:sp>
        <p:nvSpPr>
          <p:cNvPr id="12" name="Text 10"/>
          <p:cNvSpPr txBox="1"/>
          <p:nvPr/>
        </p:nvSpPr>
        <p:spPr>
          <a:xfrm>
            <a:off x="6446520" y="1691640"/>
            <a:ext cx="2148840" cy="1005840"/>
          </a:xfrm>
          <a:prstGeom prst="rect">
            <a:avLst/>
          </a:prstGeom>
          <a:noFill/>
          <a:ln/>
        </p:spPr>
        <p:txBody>
          <a:bodyPr wrap="square" lIns="0" tIns="0" rIns="0" bIns="0" rtlCol="0" anchor="ctr"/>
          <a:lstStyle/>
          <a:p>
            <a:pPr indent="0" marL="0">
              <a:buNone/>
            </a:pPr>
            <a:r>
              <a:rPr lang="en-US" sz="5400" b="1" dirty="0">
                <a:solidFill>
                  <a:schemeClr val="accent4"/>
                </a:solidFill>
                <a:latin typeface="Arial" pitchFamily="34" charset="0"/>
                <a:ea typeface="Arial" pitchFamily="34" charset="-122"/>
                <a:cs typeface="Arial" pitchFamily="34" charset="-120"/>
              </a:rPr>
              <a:t>5.4×</a:t>
            </a:r>
            <a:endParaRPr lang="en-US" sz="5400" dirty="0"/>
          </a:p>
        </p:txBody>
      </p:sp>
      <p:sp>
        <p:nvSpPr>
          <p:cNvPr id="13" name="Text 11"/>
          <p:cNvSpPr txBox="1"/>
          <p:nvPr/>
        </p:nvSpPr>
        <p:spPr>
          <a:xfrm>
            <a:off x="6446520" y="2788920"/>
            <a:ext cx="2148840" cy="640080"/>
          </a:xfrm>
          <a:prstGeom prst="rect">
            <a:avLst/>
          </a:prstGeom>
          <a:noFill/>
          <a:ln/>
        </p:spPr>
        <p:txBody>
          <a:bodyPr wrap="square" lIns="0" tIns="0" rIns="0" bIns="0" rtlCol="0" anchor="t"/>
          <a:lstStyle/>
          <a:p>
            <a:pPr indent="0" marL="0">
              <a:buNone/>
            </a:pPr>
            <a:r>
              <a:rPr lang="en-US" sz="1600" b="1" dirty="0">
                <a:solidFill>
                  <a:schemeClr val="tx1"/>
                </a:solidFill>
              </a:rPr>
              <a:t>More pothole training boxes</a:t>
            </a:r>
            <a:endParaRPr lang="en-US" sz="1600" dirty="0"/>
          </a:p>
        </p:txBody>
      </p:sp>
      <p:sp>
        <p:nvSpPr>
          <p:cNvPr id="14" name="Text 12"/>
          <p:cNvSpPr txBox="1"/>
          <p:nvPr/>
        </p:nvSpPr>
        <p:spPr>
          <a:xfrm>
            <a:off x="6446520" y="3429000"/>
            <a:ext cx="2148840" cy="548640"/>
          </a:xfrm>
          <a:prstGeom prst="rect">
            <a:avLst/>
          </a:prstGeom>
          <a:noFill/>
          <a:ln/>
        </p:spPr>
        <p:txBody>
          <a:bodyPr wrap="square" lIns="0" tIns="0" rIns="0" bIns="0" rtlCol="0" anchor="t"/>
          <a:lstStyle/>
          <a:p>
            <a:pPr indent="0" marL="0">
              <a:buNone/>
            </a:pPr>
            <a:r>
              <a:rPr lang="en-US" sz="1300" dirty="0">
                <a:solidFill>
                  <a:schemeClr val="tx2"/>
                </a:solidFill>
              </a:rPr>
              <a:t>1,080 → 5,880 after merging</a:t>
            </a:r>
            <a:endParaRPr lang="en-US" sz="1300" dirty="0"/>
          </a:p>
        </p:txBody>
      </p:sp>
      <p:sp>
        <p:nvSpPr>
          <p:cNvPr id="15" name="stat card 4"/>
          <p:cNvSpPr/>
          <p:nvPr/>
        </p:nvSpPr>
        <p:spPr>
          <a:xfrm>
            <a:off x="9052560" y="1463040"/>
            <a:ext cx="2606040" cy="2743200"/>
          </a:xfrm>
          <a:prstGeom prst="roundRect">
            <a:avLst>
              <a:gd name="adj" fmla="val 3509"/>
            </a:avLst>
          </a:prstGeom>
          <a:solidFill>
            <a:schemeClr val="bg2"/>
          </a:solidFill>
          <a:ln/>
        </p:spPr>
      </p:sp>
      <p:sp>
        <p:nvSpPr>
          <p:cNvPr id="16" name="Text 14"/>
          <p:cNvSpPr txBox="1"/>
          <p:nvPr/>
        </p:nvSpPr>
        <p:spPr>
          <a:xfrm>
            <a:off x="9281160" y="1691640"/>
            <a:ext cx="2148840" cy="1005840"/>
          </a:xfrm>
          <a:prstGeom prst="rect">
            <a:avLst/>
          </a:prstGeom>
          <a:noFill/>
          <a:ln/>
        </p:spPr>
        <p:txBody>
          <a:bodyPr wrap="square" lIns="0" tIns="0" rIns="0" bIns="0" rtlCol="0" anchor="ctr"/>
          <a:lstStyle/>
          <a:p>
            <a:pPr indent="0" marL="0">
              <a:buNone/>
            </a:pPr>
            <a:r>
              <a:rPr lang="en-US" sz="5400" b="1" dirty="0">
                <a:solidFill>
                  <a:schemeClr val="tx2"/>
                </a:solidFill>
                <a:latin typeface="Arial" pitchFamily="34" charset="0"/>
                <a:ea typeface="Arial" pitchFamily="34" charset="-122"/>
                <a:cs typeface="Arial" pitchFamily="34" charset="-120"/>
              </a:rPr>
              <a:t>0.66</a:t>
            </a:r>
            <a:endParaRPr lang="en-US" sz="5400" dirty="0"/>
          </a:p>
        </p:txBody>
      </p:sp>
      <p:sp>
        <p:nvSpPr>
          <p:cNvPr id="17" name="Text 15"/>
          <p:cNvSpPr txBox="1"/>
          <p:nvPr/>
        </p:nvSpPr>
        <p:spPr>
          <a:xfrm>
            <a:off x="9281160" y="2788920"/>
            <a:ext cx="2148840" cy="640080"/>
          </a:xfrm>
          <a:prstGeom prst="rect">
            <a:avLst/>
          </a:prstGeom>
          <a:noFill/>
          <a:ln/>
        </p:spPr>
        <p:txBody>
          <a:bodyPr wrap="square" lIns="0" tIns="0" rIns="0" bIns="0" rtlCol="0" anchor="t"/>
          <a:lstStyle/>
          <a:p>
            <a:pPr indent="0" marL="0">
              <a:buNone/>
            </a:pPr>
            <a:r>
              <a:rPr lang="en-US" sz="1600" b="1" dirty="0">
                <a:solidFill>
                  <a:schemeClr val="tx1"/>
                </a:solidFill>
              </a:rPr>
              <a:t>Detector mAP50</a:t>
            </a:r>
            <a:endParaRPr lang="en-US" sz="1600" dirty="0"/>
          </a:p>
        </p:txBody>
      </p:sp>
      <p:sp>
        <p:nvSpPr>
          <p:cNvPr id="18" name="Text 16"/>
          <p:cNvSpPr txBox="1"/>
          <p:nvPr/>
        </p:nvSpPr>
        <p:spPr>
          <a:xfrm>
            <a:off x="9281160" y="3429000"/>
            <a:ext cx="2148840" cy="548640"/>
          </a:xfrm>
          <a:prstGeom prst="rect">
            <a:avLst/>
          </a:prstGeom>
          <a:noFill/>
          <a:ln/>
        </p:spPr>
        <p:txBody>
          <a:bodyPr wrap="square" lIns="0" tIns="0" rIns="0" bIns="0" rtlCol="0" anchor="t"/>
          <a:lstStyle/>
          <a:p>
            <a:pPr indent="0" marL="0">
              <a:buNone/>
            </a:pPr>
            <a:r>
              <a:rPr lang="en-US" sz="1300" dirty="0">
                <a:solidFill>
                  <a:schemeClr val="tx2"/>
                </a:solidFill>
              </a:rPr>
              <a:t>pothole, crack, alligator crack; validation set</a:t>
            </a:r>
            <a:endParaRPr lang="en-US" sz="1300" dirty="0"/>
          </a:p>
        </p:txBody>
      </p:sp>
      <p:sp>
        <p:nvSpPr>
          <p:cNvPr id="19" name="takeaway circle"/>
          <p:cNvSpPr/>
          <p:nvPr/>
        </p:nvSpPr>
        <p:spPr>
          <a:xfrm>
            <a:off x="548640" y="4709160"/>
            <a:ext cx="685800" cy="685800"/>
          </a:xfrm>
          <a:prstGeom prst="ellipse">
            <a:avLst/>
          </a:prstGeom>
          <a:solidFill>
            <a:schemeClr val="accent1"/>
          </a:solidFill>
          <a:ln/>
        </p:spPr>
      </p:sp>
      <p:pic>
        <p:nvPicPr>
          <p:cNvPr id="20" name="takeaway icon" descr="takeaway">    </p:cNvPr>
          <p:cNvPicPr>
            <a:picLocks noChangeAspect="1"/>
          </p:cNvPicPr>
          <p:nvPr/>
        </p:nvPicPr>
        <p:blipFill>
          <a:blip r:embed="rId1"/>
          <a:stretch>
            <a:fillRect/>
          </a:stretch>
        </p:blipFill>
        <p:spPr>
          <a:xfrm>
            <a:off x="713232" y="4873752"/>
            <a:ext cx="356616" cy="356616"/>
          </a:xfrm>
          <a:prstGeom prst="rect">
            <a:avLst/>
          </a:prstGeom>
        </p:spPr>
      </p:pic>
      <p:sp>
        <p:nvSpPr>
          <p:cNvPr id="21" name="Text 18"/>
          <p:cNvSpPr txBox="1"/>
          <p:nvPr/>
        </p:nvSpPr>
        <p:spPr>
          <a:xfrm>
            <a:off x="1463040" y="4663440"/>
            <a:ext cx="10149840" cy="777240"/>
          </a:xfrm>
          <a:prstGeom prst="rect">
            <a:avLst/>
          </a:prstGeom>
          <a:noFill/>
          <a:ln/>
        </p:spPr>
        <p:txBody>
          <a:bodyPr wrap="square" lIns="0" tIns="0" rIns="0" bIns="0" rtlCol="0" anchor="ctr"/>
          <a:lstStyle/>
          <a:p>
            <a:pPr indent="0" marL="0">
              <a:buNone/>
            </a:pPr>
            <a:r>
              <a:rPr lang="en-US" sz="1600" b="1" dirty="0">
                <a:solidFill>
                  <a:schemeClr val="tx1"/>
                </a:solidFill>
              </a:rPr>
              <a:t>Strong on potholes and rough road. </a:t>
            </a:r>
            <a:pPr indent="0" marL="0">
              <a:buNone/>
            </a:pPr>
            <a:r>
              <a:rPr lang="en-US" sz="1600" dirty="0">
                <a:solidFill>
                  <a:schemeClr val="tx1"/>
                </a:solidFill>
              </a:rPr>
              <a:t>Normal road is the weakest class (71% correct, up from 56%). Jetson speed and look-ahead distance are not tested yet.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Goals versus what was achieved</a:t>
            </a:r>
            <a:endParaRPr lang="en-US" sz="3600" dirty="0"/>
          </a:p>
        </p:txBody>
      </p:sp>
      <p:graphicFrame>
        <p:nvGraphicFramePr>
          <p:cNvPr id="4" name="goal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291840"/>
                <a:gridCol w="1463040"/>
                <a:gridCol w="6309360"/>
              </a:tblGrid>
              <a:tr h="566928">
                <a:tc>
                  <a:txBody>
                    <a:bodyPr/>
                    <a:lstStyle/>
                    <a:p>
                      <a:pPr indent="0" marL="0">
                        <a:buNone/>
                      </a:pPr>
                      <a:r>
                        <a:rPr lang="en-US" sz="1400" b="1" dirty="0">
                          <a:solidFill>
                            <a:schemeClr val="bg1"/>
                          </a:solidFill>
                        </a:rPr>
                        <a:t>Goal</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Status</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Evidence</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tx1"/>
                          </a:solidFill>
                        </a:rPr>
                        <a:t>Detect potholes reliably</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Met</a:t>
                      </a:r>
                      <a:endParaRPr lang="en-US" sz="13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indent="0" marL="0">
                        <a:buNone/>
                      </a:pPr>
                      <a:r>
                        <a:rPr lang="en-US" sz="1400" dirty="0">
                          <a:solidFill>
                            <a:schemeClr val="tx1"/>
                          </a:solidFill>
                        </a:rPr>
                        <a:t>86% of pothole frames flagged; per-box recall 0.55 → 0.59</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Merge several datasets</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Met</a:t>
                      </a:r>
                      <a:endParaRPr lang="en-US" sz="13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indent="0" marL="0">
                        <a:buNone/>
                      </a:pPr>
                      <a:r>
                        <a:rPr lang="en-US" sz="1400" dirty="0">
                          <a:solidFill>
                            <a:schemeClr val="tx1"/>
                          </a:solidFill>
                        </a:rPr>
                        <a:t>RDD2022 (5 countries) + Kaggle in one pothole and crack detector</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Classify road into 4 classes</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Partly</a:t>
                      </a:r>
                      <a:endParaRPr lang="en-US" sz="13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82.8% overall; Normal 71% (was 56%)</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Output RSI 0–1 for the controller</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Met</a:t>
                      </a:r>
                      <a:endParaRPr lang="en-US" sz="13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indent="0" marL="0">
                        <a:buNone/>
                      </a:pPr>
                      <a:r>
                        <a:rPr lang="en-US" sz="1400" dirty="0">
                          <a:solidFill>
                            <a:schemeClr val="tx1"/>
                          </a:solidFill>
                        </a:rPr>
                        <a:t>Proposal values 0.10 / 0.35 / 0.65 / 0.95 with smoothing</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Real time on NVIDIA Jetson</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Untested</a:t>
                      </a:r>
                      <a:endParaRPr lang="en-US" sz="13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~3 ms/image on RTX 5060; no TensorRT export yet</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Predictive: see defects early</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Not shown</a:t>
                      </a:r>
                      <a:endParaRPr lang="en-US" sz="13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Small, distant potholes are the hardest boxes; no vehicle video yet</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Two datasets, one label space</a:t>
            </a:r>
            <a:endParaRPr lang="en-US" sz="3600" dirty="0"/>
          </a:p>
        </p:txBody>
      </p:sp>
      <p:sp>
        <p:nvSpPr>
          <p:cNvPr id="3" name="source card 1"/>
          <p:cNvSpPr/>
          <p:nvPr/>
        </p:nvSpPr>
        <p:spPr>
          <a:xfrm>
            <a:off x="548640" y="1463040"/>
            <a:ext cx="5120640" cy="1965960"/>
          </a:xfrm>
          <a:prstGeom prst="roundRect">
            <a:avLst>
              <a:gd name="adj" fmla="val 4651"/>
            </a:avLst>
          </a:prstGeom>
          <a:solidFill>
            <a:schemeClr val="bg2"/>
          </a:solidFill>
          <a:ln/>
        </p:spPr>
      </p:sp>
      <p:sp>
        <p:nvSpPr>
          <p:cNvPr id="4" name="RDD2022 circle"/>
          <p:cNvSpPr/>
          <p:nvPr/>
        </p:nvSpPr>
        <p:spPr>
          <a:xfrm>
            <a:off x="777240" y="1691640"/>
            <a:ext cx="640080" cy="640080"/>
          </a:xfrm>
          <a:prstGeom prst="ellipse">
            <a:avLst/>
          </a:prstGeom>
          <a:solidFill>
            <a:schemeClr val="accent1"/>
          </a:solidFill>
          <a:ln/>
        </p:spPr>
      </p:sp>
      <p:pic>
        <p:nvPicPr>
          <p:cNvPr id="5" name="RDD2022 icon" descr="RDD2022">    </p:cNvPr>
          <p:cNvPicPr>
            <a:picLocks noChangeAspect="1"/>
          </p:cNvPicPr>
          <p:nvPr/>
        </p:nvPicPr>
        <p:blipFill>
          <a:blip r:embed="rId1"/>
          <a:stretch>
            <a:fillRect/>
          </a:stretch>
        </p:blipFill>
        <p:spPr>
          <a:xfrm>
            <a:off x="930859" y="1845259"/>
            <a:ext cx="332842" cy="332842"/>
          </a:xfrm>
          <a:prstGeom prst="rect">
            <a:avLst/>
          </a:prstGeom>
        </p:spPr>
      </p:pic>
      <p:sp>
        <p:nvSpPr>
          <p:cNvPr id="6" name="Text 3"/>
          <p:cNvSpPr txBox="1"/>
          <p:nvPr/>
        </p:nvSpPr>
        <p:spPr>
          <a:xfrm>
            <a:off x="1600200" y="1645920"/>
            <a:ext cx="3886200" cy="411480"/>
          </a:xfrm>
          <a:prstGeom prst="rect">
            <a:avLst/>
          </a:prstGeom>
          <a:noFill/>
          <a:ln/>
        </p:spPr>
        <p:txBody>
          <a:bodyPr wrap="square" lIns="0" tIns="0" rIns="0" bIns="0" rtlCol="0" anchor="ctr"/>
          <a:lstStyle/>
          <a:p>
            <a:pPr indent="0" marL="0">
              <a:buNone/>
            </a:pPr>
            <a:r>
              <a:rPr lang="en-US" sz="1800" b="1" dirty="0">
                <a:solidFill>
                  <a:schemeClr val="tx1"/>
                </a:solidFill>
              </a:rPr>
              <a:t>RDD2022</a:t>
            </a:r>
            <a:endParaRPr lang="en-US" sz="1800" dirty="0"/>
          </a:p>
        </p:txBody>
      </p:sp>
      <p:sp>
        <p:nvSpPr>
          <p:cNvPr id="7" name="Text 4"/>
          <p:cNvSpPr txBox="1"/>
          <p:nvPr/>
        </p:nvSpPr>
        <p:spPr>
          <a:xfrm>
            <a:off x="1600200" y="2057400"/>
            <a:ext cx="3886200" cy="320040"/>
          </a:xfrm>
          <a:prstGeom prst="rect">
            <a:avLst/>
          </a:prstGeom>
          <a:noFill/>
          <a:ln/>
        </p:spPr>
        <p:txBody>
          <a:bodyPr wrap="square" lIns="0" tIns="0" rIns="0" bIns="0" rtlCol="0" anchor="ctr"/>
          <a:lstStyle/>
          <a:p>
            <a:pPr indent="0" marL="0">
              <a:buNone/>
            </a:pPr>
            <a:r>
              <a:rPr lang="en-US" sz="1500" b="1" dirty="0">
                <a:solidFill>
                  <a:schemeClr val="accent4"/>
                </a:solidFill>
              </a:rPr>
              <a:t>27,823 dashcam images</a:t>
            </a:r>
            <a:endParaRPr lang="en-US" sz="1500" dirty="0"/>
          </a:p>
        </p:txBody>
      </p:sp>
      <p:sp>
        <p:nvSpPr>
          <p:cNvPr id="8" name="Text 5"/>
          <p:cNvSpPr txBox="1"/>
          <p:nvPr/>
        </p:nvSpPr>
        <p:spPr>
          <a:xfrm>
            <a:off x="777240" y="2468880"/>
            <a:ext cx="4663440" cy="1005840"/>
          </a:xfrm>
          <a:prstGeom prst="rect">
            <a:avLst/>
          </a:prstGeom>
          <a:noFill/>
          <a:ln/>
        </p:spPr>
        <p:txBody>
          <a:bodyPr wrap="square" lIns="0" tIns="0" rIns="0" bIns="0" rtlCol="0" anchor="t"/>
          <a:lstStyle/>
          <a:p>
            <a:pPr indent="0" marL="0">
              <a:buNone/>
            </a:pPr>
            <a:r>
              <a:rPr lang="en-US" sz="1300" dirty="0">
                <a:solidFill>
                  <a:schemeClr val="tx2"/>
                </a:solidFill>
              </a:rPr>
              <a:t>India, Japan, Czech, USA, China (motorbike). Norway skipped (9.9 GB, tiny damage). S3 links return 403, so taken from figshare by byte range.</a:t>
            </a:r>
            <a:endParaRPr lang="en-US" sz="1300" dirty="0"/>
          </a:p>
        </p:txBody>
      </p:sp>
      <p:sp>
        <p:nvSpPr>
          <p:cNvPr id="9" name="source card 2"/>
          <p:cNvSpPr/>
          <p:nvPr/>
        </p:nvSpPr>
        <p:spPr>
          <a:xfrm>
            <a:off x="548640" y="3703320"/>
            <a:ext cx="5120640" cy="1965960"/>
          </a:xfrm>
          <a:prstGeom prst="roundRect">
            <a:avLst>
              <a:gd name="adj" fmla="val 4651"/>
            </a:avLst>
          </a:prstGeom>
          <a:solidFill>
            <a:schemeClr val="bg2"/>
          </a:solidFill>
          <a:ln/>
        </p:spPr>
      </p:sp>
      <p:sp>
        <p:nvSpPr>
          <p:cNvPr id="10" name="Kaggle pothole &amp; crack dataset circle"/>
          <p:cNvSpPr/>
          <p:nvPr/>
        </p:nvSpPr>
        <p:spPr>
          <a:xfrm>
            <a:off x="777240" y="3931920"/>
            <a:ext cx="640080" cy="640080"/>
          </a:xfrm>
          <a:prstGeom prst="ellipse">
            <a:avLst/>
          </a:prstGeom>
          <a:solidFill>
            <a:schemeClr val="accent1"/>
          </a:solidFill>
          <a:ln/>
        </p:spPr>
      </p:sp>
      <p:pic>
        <p:nvPicPr>
          <p:cNvPr id="11" name="Kaggle pothole &amp; crack dataset icon" descr="Kaggle pothole &amp; crack dataset">    </p:cNvPr>
          <p:cNvPicPr>
            <a:picLocks noChangeAspect="1"/>
          </p:cNvPicPr>
          <p:nvPr/>
        </p:nvPicPr>
        <p:blipFill>
          <a:blip r:embed="rId2"/>
          <a:stretch>
            <a:fillRect/>
          </a:stretch>
        </p:blipFill>
        <p:spPr>
          <a:xfrm>
            <a:off x="930859" y="4085539"/>
            <a:ext cx="332842" cy="332842"/>
          </a:xfrm>
          <a:prstGeom prst="rect">
            <a:avLst/>
          </a:prstGeom>
        </p:spPr>
      </p:pic>
      <p:sp>
        <p:nvSpPr>
          <p:cNvPr id="12" name="Text 8"/>
          <p:cNvSpPr txBox="1"/>
          <p:nvPr/>
        </p:nvSpPr>
        <p:spPr>
          <a:xfrm>
            <a:off x="1600200" y="3886200"/>
            <a:ext cx="3886200" cy="411480"/>
          </a:xfrm>
          <a:prstGeom prst="rect">
            <a:avLst/>
          </a:prstGeom>
          <a:noFill/>
          <a:ln/>
        </p:spPr>
        <p:txBody>
          <a:bodyPr wrap="square" lIns="0" tIns="0" rIns="0" bIns="0" rtlCol="0" anchor="ctr"/>
          <a:lstStyle/>
          <a:p>
            <a:pPr indent="0" marL="0">
              <a:buNone/>
            </a:pPr>
            <a:r>
              <a:rPr lang="en-US" sz="1800" b="1" dirty="0">
                <a:solidFill>
                  <a:schemeClr val="tx1"/>
                </a:solidFill>
              </a:rPr>
              <a:t>Kaggle pothole &amp; crack dataset</a:t>
            </a:r>
            <a:endParaRPr lang="en-US" sz="1800" dirty="0"/>
          </a:p>
        </p:txBody>
      </p:sp>
      <p:sp>
        <p:nvSpPr>
          <p:cNvPr id="13" name="Text 9"/>
          <p:cNvSpPr txBox="1"/>
          <p:nvPr/>
        </p:nvSpPr>
        <p:spPr>
          <a:xfrm>
            <a:off x="1600200" y="4297680"/>
            <a:ext cx="3886200" cy="320040"/>
          </a:xfrm>
          <a:prstGeom prst="rect">
            <a:avLst/>
          </a:prstGeom>
          <a:noFill/>
          <a:ln/>
        </p:spPr>
        <p:txBody>
          <a:bodyPr wrap="square" lIns="0" tIns="0" rIns="0" bIns="0" rtlCol="0" anchor="ctr"/>
          <a:lstStyle/>
          <a:p>
            <a:pPr indent="0" marL="0">
              <a:buNone/>
            </a:pPr>
            <a:r>
              <a:rPr lang="en-US" sz="1500" b="1" dirty="0">
                <a:solidFill>
                  <a:schemeClr val="accent4"/>
                </a:solidFill>
              </a:rPr>
              <a:t>2,236 labelled images</a:t>
            </a:r>
            <a:endParaRPr lang="en-US" sz="1500" dirty="0"/>
          </a:p>
        </p:txBody>
      </p:sp>
      <p:sp>
        <p:nvSpPr>
          <p:cNvPr id="14" name="Text 10"/>
          <p:cNvSpPr txBox="1"/>
          <p:nvPr/>
        </p:nvSpPr>
        <p:spPr>
          <a:xfrm>
            <a:off x="777240" y="4709160"/>
            <a:ext cx="4663440" cy="1005840"/>
          </a:xfrm>
          <a:prstGeom prst="rect">
            <a:avLst/>
          </a:prstGeom>
          <a:noFill/>
          <a:ln/>
        </p:spPr>
        <p:txBody>
          <a:bodyPr wrap="square" lIns="0" tIns="0" rIns="0" bIns="0" rtlCol="0" anchor="t"/>
          <a:lstStyle/>
          <a:p>
            <a:pPr indent="0" marL="0">
              <a:buNone/>
            </a:pPr>
            <a:r>
              <a:rPr lang="en-US" sz="1300" dirty="0">
                <a:solidFill>
                  <a:schemeClr val="tx2"/>
                </a:solidFill>
              </a:rPr>
              <a:t>Close-up potholes and cracks. The data the old model was trained on.</a:t>
            </a:r>
            <a:endParaRPr lang="en-US" sz="1300" dirty="0"/>
          </a:p>
        </p:txBody>
      </p:sp>
      <p:sp>
        <p:nvSpPr>
          <p:cNvPr id="15" name="merge arrow"/>
          <p:cNvSpPr/>
          <p:nvPr/>
        </p:nvSpPr>
        <p:spPr>
          <a:xfrm>
            <a:off x="5852160" y="3108960"/>
            <a:ext cx="502920" cy="502920"/>
          </a:xfrm>
          <a:prstGeom prst="rightArrow">
            <a:avLst/>
          </a:prstGeom>
          <a:solidFill>
            <a:schemeClr val="accent1"/>
          </a:solidFill>
          <a:ln/>
        </p:spPr>
      </p:sp>
      <p:sp>
        <p:nvSpPr>
          <p:cNvPr id="16" name="Text 12"/>
          <p:cNvSpPr txBox="1"/>
          <p:nvPr/>
        </p:nvSpPr>
        <p:spPr>
          <a:xfrm>
            <a:off x="6537960" y="1463040"/>
            <a:ext cx="5074920" cy="411480"/>
          </a:xfrm>
          <a:prstGeom prst="rect">
            <a:avLst/>
          </a:prstGeom>
          <a:noFill/>
          <a:ln/>
        </p:spPr>
        <p:txBody>
          <a:bodyPr wrap="square" lIns="0" tIns="0" rIns="0" bIns="0" rtlCol="0" anchor="ctr"/>
          <a:lstStyle/>
          <a:p>
            <a:pPr indent="0" marL="0">
              <a:buNone/>
            </a:pPr>
            <a:r>
              <a:rPr lang="en-US" sz="1800" b="1" dirty="0">
                <a:solidFill>
                  <a:schemeClr val="tx1"/>
                </a:solidFill>
              </a:rPr>
              <a:t>Merged classes</a:t>
            </a:r>
            <a:endParaRPr lang="en-US" sz="1800" dirty="0"/>
          </a:p>
        </p:txBody>
      </p:sp>
      <p:graphicFrame>
        <p:nvGraphicFramePr>
          <p:cNvPr id="5" name="class map table"/>
          <p:cNvGraphicFramePr>
            <a:graphicFrameLocks noGrp="1"/>
          </p:cNvGraphicFramePr>
          <p:nvPr>
            <p:extLst>
              <p:ext uri="{D42A27DB-BD31-4B8C-83A1-F6EECF244321}">
                <p14:modId xmlns:p14="http://schemas.microsoft.com/office/powerpoint/2010/main" val="1579011935"/>
              </p:ext>
            </p:extLst>
          </p:nvPr>
        </p:nvGraphicFramePr>
        <p:xfrm>
          <a:off x="6537960" y="1965960"/>
          <a:ext cx="5074920" cy="914400"/>
        </p:xfrm>
        <a:graphic>
          <a:graphicData uri="http://schemas.openxmlformats.org/drawingml/2006/table">
            <a:tbl>
              <a:tblPr/>
              <a:tblGrid>
                <a:gridCol w="1874520"/>
                <a:gridCol w="1371600"/>
                <a:gridCol w="1828800"/>
              </a:tblGrid>
              <a:tr h="457200">
                <a:tc>
                  <a:txBody>
                    <a:bodyPr/>
                    <a:lstStyle/>
                    <a:p>
                      <a:pPr indent="0" marL="0">
                        <a:buNone/>
                      </a:pPr>
                      <a:r>
                        <a:rPr lang="en-US" sz="1400" b="1" dirty="0">
                          <a:solidFill>
                            <a:schemeClr val="bg1"/>
                          </a:solidFill>
                        </a:rPr>
                        <a:t>Class</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RDD2022</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Kaggle</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r>
              <a:tr h="457200">
                <a:tc>
                  <a:txBody>
                    <a:bodyPr/>
                    <a:lstStyle/>
                    <a:p>
                      <a:pPr indent="0" marL="0">
                        <a:buNone/>
                      </a:pPr>
                      <a:r>
                        <a:rPr lang="en-US" sz="1400" b="1" dirty="0">
                          <a:solidFill>
                            <a:schemeClr val="tx1"/>
                          </a:solidFill>
                        </a:rPr>
                        <a:t>pothole</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D40</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pothole</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crack</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D00, D10</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cracks</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alligator_crack</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D20</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8" name="Text 13"/>
          <p:cNvSpPr txBox="1"/>
          <p:nvPr/>
        </p:nvSpPr>
        <p:spPr>
          <a:xfrm>
            <a:off x="6537960" y="4434840"/>
            <a:ext cx="5074920" cy="822960"/>
          </a:xfrm>
          <a:prstGeom prst="rect">
            <a:avLst/>
          </a:prstGeom>
          <a:noFill/>
          <a:ln/>
        </p:spPr>
        <p:txBody>
          <a:bodyPr wrap="square" lIns="0" tIns="0" rIns="0" bIns="0" rtlCol="0" anchor="t"/>
          <a:lstStyle/>
          <a:p>
            <a:pPr indent="0" marL="0">
              <a:buNone/>
            </a:pPr>
            <a:r>
              <a:rPr lang="en-US" sz="1300" dirty="0">
                <a:solidFill>
                  <a:schemeClr val="tx2"/>
                </a:solidFill>
              </a:rPr>
              <a:t>Dropped RDD codes: utility covers (D44), road markings (D50), crosswalk blur (D43), repairs and rare crack sub-codes.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5.4× more potholes to learn from</a:t>
            </a:r>
            <a:endParaRPr lang="en-US" sz="3600" dirty="0"/>
          </a:p>
        </p:txBody>
      </p:sp>
      <p:graphicFrame>
        <p:nvGraphicFramePr>
          <p:cNvPr id="3" name="training boxes chart"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split table"/>
          <p:cNvGraphicFramePr>
            <a:graphicFrameLocks noGrp="1"/>
          </p:cNvGraphicFramePr>
          <p:nvPr>
            <p:extLst>
              <p:ext uri="{D42A27DB-BD31-4B8C-83A1-F6EECF244321}">
                <p14:modId xmlns:p14="http://schemas.microsoft.com/office/powerpoint/2010/main" val="1579011935"/>
              </p:ext>
            </p:extLst>
          </p:nvPr>
        </p:nvGraphicFramePr>
        <p:xfrm>
          <a:off x="7863840" y="1463040"/>
          <a:ext cx="3749040" cy="914400"/>
        </p:xfrm>
        <a:graphic>
          <a:graphicData uri="http://schemas.openxmlformats.org/drawingml/2006/table">
            <a:tbl>
              <a:tblPr/>
              <a:tblGrid>
                <a:gridCol w="1280160"/>
                <a:gridCol w="1097280"/>
                <a:gridCol w="1371600"/>
              </a:tblGrid>
              <a:tr h="457200">
                <a:tc>
                  <a:txBody>
                    <a:bodyPr/>
                    <a:lstStyle/>
                    <a:p>
                      <a:pPr indent="0" marL="0">
                        <a:buNone/>
                      </a:pPr>
                      <a:r>
                        <a:rPr lang="en-US" sz="1400" b="1" dirty="0">
                          <a:solidFill>
                            <a:schemeClr val="bg1"/>
                          </a:solidFill>
                        </a:rPr>
                        <a:t>Split</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Images</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Pothole boxes</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r>
              <a:tr h="457200">
                <a:tc>
                  <a:txBody>
                    <a:bodyPr/>
                    <a:lstStyle/>
                    <a:p>
                      <a:pPr algn="l" indent="0" marL="0">
                        <a:buNone/>
                      </a:pPr>
                      <a:r>
                        <a:rPr lang="en-US" sz="1400" b="1" dirty="0">
                          <a:solidFill>
                            <a:schemeClr val="tx1"/>
                          </a:solidFill>
                        </a:rPr>
                        <a:t>Train</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20,370</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5,880</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algn="l" indent="0" marL="0">
                        <a:buNone/>
                      </a:pPr>
                      <a:r>
                        <a:rPr lang="en-US" sz="1400" b="1" dirty="0">
                          <a:solidFill>
                            <a:schemeClr val="tx1"/>
                          </a:solidFill>
                        </a:rPr>
                        <a:t>Validation</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2,522</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726</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algn="l" indent="0" marL="0">
                        <a:buNone/>
                      </a:pPr>
                      <a:r>
                        <a:rPr lang="en-US" sz="1400" b="1" dirty="0">
                          <a:solidFill>
                            <a:schemeClr val="tx1"/>
                          </a:solidFill>
                        </a:rPr>
                        <a:t>Test</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2,452</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896</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frame blocks circle"/>
          <p:cNvSpPr/>
          <p:nvPr/>
        </p:nvSpPr>
        <p:spPr>
          <a:xfrm>
            <a:off x="7863840" y="3657600"/>
            <a:ext cx="548640" cy="548640"/>
          </a:xfrm>
          <a:prstGeom prst="ellipse">
            <a:avLst/>
          </a:prstGeom>
          <a:solidFill>
            <a:schemeClr val="accent1"/>
          </a:solidFill>
          <a:ln/>
        </p:spPr>
      </p:sp>
      <p:pic>
        <p:nvPicPr>
          <p:cNvPr id="6" name="frame blocks icon" descr="frame blocks">    </p:cNvPr>
          <p:cNvPicPr>
            <a:picLocks noChangeAspect="1"/>
          </p:cNvPicPr>
          <p:nvPr/>
        </p:nvPicPr>
        <p:blipFill>
          <a:blip r:embed="rId2"/>
          <a:stretch>
            <a:fillRect/>
          </a:stretch>
        </p:blipFill>
        <p:spPr>
          <a:xfrm>
            <a:off x="7995514" y="3789274"/>
            <a:ext cx="285293" cy="285293"/>
          </a:xfrm>
          <a:prstGeom prst="rect">
            <a:avLst/>
          </a:prstGeom>
        </p:spPr>
      </p:pic>
      <p:sp>
        <p:nvSpPr>
          <p:cNvPr id="7" name="Text 2"/>
          <p:cNvSpPr txBox="1"/>
          <p:nvPr/>
        </p:nvSpPr>
        <p:spPr>
          <a:xfrm>
            <a:off x="8595360" y="3566160"/>
            <a:ext cx="3017520" cy="1005840"/>
          </a:xfrm>
          <a:prstGeom prst="rect">
            <a:avLst/>
          </a:prstGeom>
          <a:noFill/>
          <a:ln/>
        </p:spPr>
        <p:txBody>
          <a:bodyPr wrap="square" lIns="0" tIns="0" rIns="0" bIns="0" rtlCol="0" anchor="ctr"/>
          <a:lstStyle/>
          <a:p>
            <a:pPr indent="0" marL="0">
              <a:buNone/>
            </a:pPr>
            <a:r>
              <a:rPr lang="en-US" sz="1300" dirty="0">
                <a:solidFill>
                  <a:schemeClr val="tx1"/>
                </a:solidFill>
              </a:rPr>
              <a:t>Dashcam frames kept together in blocks of 50, so near-duplicate frames never sit in both train and test.</a:t>
            </a:r>
            <a:endParaRPr lang="en-US" sz="1300" dirty="0"/>
          </a:p>
        </p:txBody>
      </p:sp>
      <p:sp>
        <p:nvSpPr>
          <p:cNvPr id="8" name="background cap circle"/>
          <p:cNvSpPr/>
          <p:nvPr/>
        </p:nvSpPr>
        <p:spPr>
          <a:xfrm>
            <a:off x="7863840" y="4892040"/>
            <a:ext cx="548640" cy="548640"/>
          </a:xfrm>
          <a:prstGeom prst="ellipse">
            <a:avLst/>
          </a:prstGeom>
          <a:solidFill>
            <a:schemeClr val="accent1"/>
          </a:solidFill>
          <a:ln/>
        </p:spPr>
      </p:sp>
      <p:pic>
        <p:nvPicPr>
          <p:cNvPr id="9" name="background cap icon" descr="background cap">    </p:cNvPr>
          <p:cNvPicPr>
            <a:picLocks noChangeAspect="1"/>
          </p:cNvPicPr>
          <p:nvPr/>
        </p:nvPicPr>
        <p:blipFill>
          <a:blip r:embed="rId3"/>
          <a:stretch>
            <a:fillRect/>
          </a:stretch>
        </p:blipFill>
        <p:spPr>
          <a:xfrm>
            <a:off x="7995514" y="5023714"/>
            <a:ext cx="285293" cy="285293"/>
          </a:xfrm>
          <a:prstGeom prst="rect">
            <a:avLst/>
          </a:prstGeom>
        </p:spPr>
      </p:pic>
      <p:sp>
        <p:nvSpPr>
          <p:cNvPr id="10" name="Text 4"/>
          <p:cNvSpPr txBox="1"/>
          <p:nvPr/>
        </p:nvSpPr>
        <p:spPr>
          <a:xfrm>
            <a:off x="8595360" y="4800600"/>
            <a:ext cx="3017520" cy="914400"/>
          </a:xfrm>
          <a:prstGeom prst="rect">
            <a:avLst/>
          </a:prstGeom>
          <a:noFill/>
          <a:ln/>
        </p:spPr>
        <p:txBody>
          <a:bodyPr wrap="square" lIns="0" tIns="0" rIns="0" bIns="0" rtlCol="0" anchor="ctr"/>
          <a:lstStyle/>
          <a:p>
            <a:pPr indent="0" marL="0">
              <a:buNone/>
            </a:pPr>
            <a:r>
              <a:rPr lang="en-US" sz="1300" dirty="0">
                <a:solidFill>
                  <a:schemeClr val="tx1"/>
                </a:solidFill>
              </a:rPr>
              <a:t>Images with no defects capped at 15% of each split so they don't swamp training.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From camera frame to RSI</a:t>
            </a:r>
            <a:endParaRPr lang="en-US" sz="3600" dirty="0"/>
          </a:p>
        </p:txBody>
      </p:sp>
      <p:sp>
        <p:nvSpPr>
          <p:cNvPr id="3" name="Camera frame circle"/>
          <p:cNvSpPr/>
          <p:nvPr/>
        </p:nvSpPr>
        <p:spPr>
          <a:xfrm>
            <a:off x="1207008" y="1417320"/>
            <a:ext cx="731520" cy="731520"/>
          </a:xfrm>
          <a:prstGeom prst="ellipse">
            <a:avLst/>
          </a:prstGeom>
          <a:solidFill>
            <a:schemeClr val="accent1"/>
          </a:solidFill>
          <a:ln/>
        </p:spPr>
      </p:sp>
      <p:pic>
        <p:nvPicPr>
          <p:cNvPr id="4" name="Camera frame icon" descr="Camera frame">    </p:cNvPr>
          <p:cNvPicPr>
            <a:picLocks noChangeAspect="1"/>
          </p:cNvPicPr>
          <p:nvPr/>
        </p:nvPicPr>
        <p:blipFill>
          <a:blip r:embed="rId1"/>
          <a:stretch>
            <a:fillRect/>
          </a:stretch>
        </p:blipFill>
        <p:spPr>
          <a:xfrm>
            <a:off x="1382573" y="1592885"/>
            <a:ext cx="380390" cy="380390"/>
          </a:xfrm>
          <a:prstGeom prst="rect">
            <a:avLst/>
          </a:prstGeom>
        </p:spPr>
      </p:pic>
      <p:sp>
        <p:nvSpPr>
          <p:cNvPr id="5" name="Text 2"/>
          <p:cNvSpPr txBox="1"/>
          <p:nvPr/>
        </p:nvSpPr>
        <p:spPr>
          <a:xfrm>
            <a:off x="548640" y="2240280"/>
            <a:ext cx="2048256" cy="365760"/>
          </a:xfrm>
          <a:prstGeom prst="rect">
            <a:avLst/>
          </a:prstGeom>
          <a:noFill/>
          <a:ln/>
        </p:spPr>
        <p:txBody>
          <a:bodyPr wrap="square" lIns="0" tIns="0" rIns="0" bIns="0" rtlCol="0" anchor="ctr"/>
          <a:lstStyle/>
          <a:p>
            <a:pPr algn="ctr" indent="0" marL="0">
              <a:buNone/>
            </a:pPr>
            <a:r>
              <a:rPr lang="en-US" sz="1600" b="1" dirty="0">
                <a:solidFill>
                  <a:schemeClr val="tx1"/>
                </a:solidFill>
              </a:rPr>
              <a:t>Camera frame</a:t>
            </a:r>
            <a:endParaRPr lang="en-US" sz="1600" dirty="0"/>
          </a:p>
        </p:txBody>
      </p:sp>
      <p:sp>
        <p:nvSpPr>
          <p:cNvPr id="6" name="Text 3"/>
          <p:cNvSpPr txBox="1"/>
          <p:nvPr/>
        </p:nvSpPr>
        <p:spPr>
          <a:xfrm>
            <a:off x="548640" y="2606040"/>
            <a:ext cx="2048256" cy="685800"/>
          </a:xfrm>
          <a:prstGeom prst="rect">
            <a:avLst/>
          </a:prstGeom>
          <a:noFill/>
          <a:ln/>
        </p:spPr>
        <p:txBody>
          <a:bodyPr wrap="square" lIns="0" tIns="0" rIns="0" bIns="0" rtlCol="0" anchor="t"/>
          <a:lstStyle/>
          <a:p>
            <a:pPr algn="ctr" indent="0" marL="0">
              <a:buNone/>
            </a:pPr>
            <a:r>
              <a:rPr lang="en-US" sz="1300" dirty="0">
                <a:solidFill>
                  <a:schemeClr val="tx2"/>
                </a:solidFill>
              </a:rPr>
              <a:t>Road ahead of the vehicle</a:t>
            </a:r>
            <a:endParaRPr lang="en-US" sz="1300" dirty="0"/>
          </a:p>
        </p:txBody>
      </p:sp>
      <p:sp>
        <p:nvSpPr>
          <p:cNvPr id="7" name="flow arrow 1"/>
          <p:cNvSpPr/>
          <p:nvPr/>
        </p:nvSpPr>
        <p:spPr>
          <a:xfrm>
            <a:off x="2450592" y="1645920"/>
            <a:ext cx="292608" cy="274320"/>
          </a:xfrm>
          <a:prstGeom prst="rightArrow">
            <a:avLst/>
          </a:prstGeom>
          <a:solidFill>
            <a:schemeClr val="accent6"/>
          </a:solidFill>
          <a:ln/>
        </p:spPr>
      </p:sp>
      <p:sp>
        <p:nvSpPr>
          <p:cNvPr id="8" name="YOLOv8s circle"/>
          <p:cNvSpPr/>
          <p:nvPr/>
        </p:nvSpPr>
        <p:spPr>
          <a:xfrm>
            <a:off x="3474720" y="1417320"/>
            <a:ext cx="731520" cy="731520"/>
          </a:xfrm>
          <a:prstGeom prst="ellipse">
            <a:avLst/>
          </a:prstGeom>
          <a:solidFill>
            <a:schemeClr val="accent1"/>
          </a:solidFill>
          <a:ln/>
        </p:spPr>
      </p:sp>
      <p:pic>
        <p:nvPicPr>
          <p:cNvPr id="9" name="YOLOv8s icon" descr="YOLOv8s">    </p:cNvPr>
          <p:cNvPicPr>
            <a:picLocks noChangeAspect="1"/>
          </p:cNvPicPr>
          <p:nvPr/>
        </p:nvPicPr>
        <p:blipFill>
          <a:blip r:embed="rId2"/>
          <a:stretch>
            <a:fillRect/>
          </a:stretch>
        </p:blipFill>
        <p:spPr>
          <a:xfrm>
            <a:off x="3650285" y="1592885"/>
            <a:ext cx="380390" cy="380390"/>
          </a:xfrm>
          <a:prstGeom prst="rect">
            <a:avLst/>
          </a:prstGeom>
        </p:spPr>
      </p:pic>
      <p:sp>
        <p:nvSpPr>
          <p:cNvPr id="10" name="Text 6"/>
          <p:cNvSpPr txBox="1"/>
          <p:nvPr/>
        </p:nvSpPr>
        <p:spPr>
          <a:xfrm>
            <a:off x="2816352" y="2240280"/>
            <a:ext cx="2048256" cy="365760"/>
          </a:xfrm>
          <a:prstGeom prst="rect">
            <a:avLst/>
          </a:prstGeom>
          <a:noFill/>
          <a:ln/>
        </p:spPr>
        <p:txBody>
          <a:bodyPr wrap="square" lIns="0" tIns="0" rIns="0" bIns="0" rtlCol="0" anchor="ctr"/>
          <a:lstStyle/>
          <a:p>
            <a:pPr algn="ctr" indent="0" marL="0">
              <a:buNone/>
            </a:pPr>
            <a:r>
              <a:rPr lang="en-US" sz="1600" b="1" dirty="0">
                <a:solidFill>
                  <a:schemeClr val="tx1"/>
                </a:solidFill>
              </a:rPr>
              <a:t>YOLOv8s</a:t>
            </a:r>
            <a:endParaRPr lang="en-US" sz="1600" dirty="0"/>
          </a:p>
        </p:txBody>
      </p:sp>
      <p:sp>
        <p:nvSpPr>
          <p:cNvPr id="11" name="Text 7"/>
          <p:cNvSpPr txBox="1"/>
          <p:nvPr/>
        </p:nvSpPr>
        <p:spPr>
          <a:xfrm>
            <a:off x="2816352" y="2606040"/>
            <a:ext cx="2048256" cy="685800"/>
          </a:xfrm>
          <a:prstGeom prst="rect">
            <a:avLst/>
          </a:prstGeom>
          <a:noFill/>
          <a:ln/>
        </p:spPr>
        <p:txBody>
          <a:bodyPr wrap="square" lIns="0" tIns="0" rIns="0" bIns="0" rtlCol="0" anchor="t"/>
          <a:lstStyle/>
          <a:p>
            <a:pPr algn="ctr" indent="0" marL="0">
              <a:buNone/>
            </a:pPr>
            <a:r>
              <a:rPr lang="en-US" sz="1300" dirty="0">
                <a:solidFill>
                  <a:schemeClr val="tx2"/>
                </a:solidFill>
              </a:rPr>
              <a:t>Boxes: pothole, crack, alligator crack</a:t>
            </a:r>
            <a:endParaRPr lang="en-US" sz="1300" dirty="0"/>
          </a:p>
        </p:txBody>
      </p:sp>
      <p:sp>
        <p:nvSpPr>
          <p:cNvPr id="12" name="flow arrow 2"/>
          <p:cNvSpPr/>
          <p:nvPr/>
        </p:nvSpPr>
        <p:spPr>
          <a:xfrm>
            <a:off x="4718304" y="1645920"/>
            <a:ext cx="292608" cy="274320"/>
          </a:xfrm>
          <a:prstGeom prst="rightArrow">
            <a:avLst/>
          </a:prstGeom>
          <a:solidFill>
            <a:schemeClr val="accent6"/>
          </a:solidFill>
          <a:ln/>
        </p:spPr>
      </p:sp>
      <p:sp>
        <p:nvSpPr>
          <p:cNvPr id="13" name="Rule circle"/>
          <p:cNvSpPr/>
          <p:nvPr/>
        </p:nvSpPr>
        <p:spPr>
          <a:xfrm>
            <a:off x="5742432" y="1417320"/>
            <a:ext cx="731520" cy="731520"/>
          </a:xfrm>
          <a:prstGeom prst="ellipse">
            <a:avLst/>
          </a:prstGeom>
          <a:solidFill>
            <a:schemeClr val="accent1"/>
          </a:solidFill>
          <a:ln/>
        </p:spPr>
      </p:sp>
      <p:pic>
        <p:nvPicPr>
          <p:cNvPr id="14" name="Rule icon" descr="Rule">    </p:cNvPr>
          <p:cNvPicPr>
            <a:picLocks noChangeAspect="1"/>
          </p:cNvPicPr>
          <p:nvPr/>
        </p:nvPicPr>
        <p:blipFill>
          <a:blip r:embed="rId3"/>
          <a:stretch>
            <a:fillRect/>
          </a:stretch>
        </p:blipFill>
        <p:spPr>
          <a:xfrm>
            <a:off x="5917997" y="1592885"/>
            <a:ext cx="380390" cy="380390"/>
          </a:xfrm>
          <a:prstGeom prst="rect">
            <a:avLst/>
          </a:prstGeom>
        </p:spPr>
      </p:pic>
      <p:sp>
        <p:nvSpPr>
          <p:cNvPr id="15" name="Text 10"/>
          <p:cNvSpPr txBox="1"/>
          <p:nvPr/>
        </p:nvSpPr>
        <p:spPr>
          <a:xfrm>
            <a:off x="5084064" y="2240280"/>
            <a:ext cx="2048256" cy="365760"/>
          </a:xfrm>
          <a:prstGeom prst="rect">
            <a:avLst/>
          </a:prstGeom>
          <a:noFill/>
          <a:ln/>
        </p:spPr>
        <p:txBody>
          <a:bodyPr wrap="square" lIns="0" tIns="0" rIns="0" bIns="0" rtlCol="0" anchor="ctr"/>
          <a:lstStyle/>
          <a:p>
            <a:pPr algn="ctr" indent="0" marL="0">
              <a:buNone/>
            </a:pPr>
            <a:r>
              <a:rPr lang="en-US" sz="1600" b="1" dirty="0">
                <a:solidFill>
                  <a:schemeClr val="tx1"/>
                </a:solidFill>
              </a:rPr>
              <a:t>Rule</a:t>
            </a:r>
            <a:endParaRPr lang="en-US" sz="1600" dirty="0"/>
          </a:p>
        </p:txBody>
      </p:sp>
      <p:sp>
        <p:nvSpPr>
          <p:cNvPr id="16" name="Text 11"/>
          <p:cNvSpPr txBox="1"/>
          <p:nvPr/>
        </p:nvSpPr>
        <p:spPr>
          <a:xfrm>
            <a:off x="5084064" y="2606040"/>
            <a:ext cx="2048256" cy="685800"/>
          </a:xfrm>
          <a:prstGeom prst="rect">
            <a:avLst/>
          </a:prstGeom>
          <a:noFill/>
          <a:ln/>
        </p:spPr>
        <p:txBody>
          <a:bodyPr wrap="square" lIns="0" tIns="0" rIns="0" bIns="0" rtlCol="0" anchor="t"/>
          <a:lstStyle/>
          <a:p>
            <a:pPr algn="ctr" indent="0" marL="0">
              <a:buNone/>
            </a:pPr>
            <a:r>
              <a:rPr lang="en-US" sz="1300" dirty="0">
                <a:solidFill>
                  <a:schemeClr val="tx2"/>
                </a:solidFill>
              </a:rPr>
              <a:t>Boxes → one road class</a:t>
            </a:r>
            <a:endParaRPr lang="en-US" sz="1300" dirty="0"/>
          </a:p>
        </p:txBody>
      </p:sp>
      <p:sp>
        <p:nvSpPr>
          <p:cNvPr id="17" name="flow arrow 3"/>
          <p:cNvSpPr/>
          <p:nvPr/>
        </p:nvSpPr>
        <p:spPr>
          <a:xfrm>
            <a:off x="6986016" y="1645920"/>
            <a:ext cx="292608" cy="274320"/>
          </a:xfrm>
          <a:prstGeom prst="rightArrow">
            <a:avLst/>
          </a:prstGeom>
          <a:solidFill>
            <a:schemeClr val="accent6"/>
          </a:solidFill>
          <a:ln/>
        </p:spPr>
      </p:sp>
      <p:sp>
        <p:nvSpPr>
          <p:cNvPr id="18" name="Peak-hold smoothing circle"/>
          <p:cNvSpPr/>
          <p:nvPr/>
        </p:nvSpPr>
        <p:spPr>
          <a:xfrm>
            <a:off x="8010144" y="1417320"/>
            <a:ext cx="731520" cy="731520"/>
          </a:xfrm>
          <a:prstGeom prst="ellipse">
            <a:avLst/>
          </a:prstGeom>
          <a:solidFill>
            <a:schemeClr val="accent1"/>
          </a:solidFill>
          <a:ln/>
        </p:spPr>
      </p:sp>
      <p:pic>
        <p:nvPicPr>
          <p:cNvPr id="19" name="Peak-hold smoothing icon" descr="Peak-hold smoothing">    </p:cNvPr>
          <p:cNvPicPr>
            <a:picLocks noChangeAspect="1"/>
          </p:cNvPicPr>
          <p:nvPr/>
        </p:nvPicPr>
        <p:blipFill>
          <a:blip r:embed="rId4"/>
          <a:stretch>
            <a:fillRect/>
          </a:stretch>
        </p:blipFill>
        <p:spPr>
          <a:xfrm>
            <a:off x="8185709" y="1592885"/>
            <a:ext cx="380390" cy="380390"/>
          </a:xfrm>
          <a:prstGeom prst="rect">
            <a:avLst/>
          </a:prstGeom>
        </p:spPr>
      </p:pic>
      <p:sp>
        <p:nvSpPr>
          <p:cNvPr id="20" name="Text 14"/>
          <p:cNvSpPr txBox="1"/>
          <p:nvPr/>
        </p:nvSpPr>
        <p:spPr>
          <a:xfrm>
            <a:off x="7351776" y="2240280"/>
            <a:ext cx="2048256" cy="365760"/>
          </a:xfrm>
          <a:prstGeom prst="rect">
            <a:avLst/>
          </a:prstGeom>
          <a:noFill/>
          <a:ln/>
        </p:spPr>
        <p:txBody>
          <a:bodyPr wrap="square" lIns="0" tIns="0" rIns="0" bIns="0" rtlCol="0" anchor="ctr"/>
          <a:lstStyle/>
          <a:p>
            <a:pPr algn="ctr" indent="0" marL="0">
              <a:buNone/>
            </a:pPr>
            <a:r>
              <a:rPr lang="en-US" sz="1600" b="1" dirty="0">
                <a:solidFill>
                  <a:schemeClr val="tx1"/>
                </a:solidFill>
              </a:rPr>
              <a:t>Peak-hold smoothing</a:t>
            </a:r>
            <a:endParaRPr lang="en-US" sz="1600" dirty="0"/>
          </a:p>
        </p:txBody>
      </p:sp>
      <p:sp>
        <p:nvSpPr>
          <p:cNvPr id="21" name="Text 15"/>
          <p:cNvSpPr txBox="1"/>
          <p:nvPr/>
        </p:nvSpPr>
        <p:spPr>
          <a:xfrm>
            <a:off x="7351776" y="2606040"/>
            <a:ext cx="2048256" cy="685800"/>
          </a:xfrm>
          <a:prstGeom prst="rect">
            <a:avLst/>
          </a:prstGeom>
          <a:noFill/>
          <a:ln/>
        </p:spPr>
        <p:txBody>
          <a:bodyPr wrap="square" lIns="0" tIns="0" rIns="0" bIns="0" rtlCol="0" anchor="t"/>
          <a:lstStyle/>
          <a:p>
            <a:pPr algn="ctr" indent="0" marL="0">
              <a:buNone/>
            </a:pPr>
            <a:r>
              <a:rPr lang="en-US" sz="1300" dirty="0">
                <a:solidFill>
                  <a:schemeClr val="tx2"/>
                </a:solidFill>
              </a:rPr>
              <a:t>Up instantly, down after 10 frames</a:t>
            </a:r>
            <a:endParaRPr lang="en-US" sz="1300" dirty="0"/>
          </a:p>
        </p:txBody>
      </p:sp>
      <p:sp>
        <p:nvSpPr>
          <p:cNvPr id="22" name="flow arrow 4"/>
          <p:cNvSpPr/>
          <p:nvPr/>
        </p:nvSpPr>
        <p:spPr>
          <a:xfrm>
            <a:off x="9253728" y="1645920"/>
            <a:ext cx="292608" cy="274320"/>
          </a:xfrm>
          <a:prstGeom prst="rightArrow">
            <a:avLst/>
          </a:prstGeom>
          <a:solidFill>
            <a:schemeClr val="accent6"/>
          </a:solidFill>
          <a:ln/>
        </p:spPr>
      </p:sp>
      <p:sp>
        <p:nvSpPr>
          <p:cNvPr id="23" name="STSMC gains circle"/>
          <p:cNvSpPr/>
          <p:nvPr/>
        </p:nvSpPr>
        <p:spPr>
          <a:xfrm>
            <a:off x="10277856" y="1417320"/>
            <a:ext cx="731520" cy="731520"/>
          </a:xfrm>
          <a:prstGeom prst="ellipse">
            <a:avLst/>
          </a:prstGeom>
          <a:solidFill>
            <a:schemeClr val="accent1"/>
          </a:solidFill>
          <a:ln/>
        </p:spPr>
      </p:sp>
      <p:pic>
        <p:nvPicPr>
          <p:cNvPr id="24" name="STSMC gains icon" descr="STSMC gains">    </p:cNvPr>
          <p:cNvPicPr>
            <a:picLocks noChangeAspect="1"/>
          </p:cNvPicPr>
          <p:nvPr/>
        </p:nvPicPr>
        <p:blipFill>
          <a:blip r:embed="rId5"/>
          <a:stretch>
            <a:fillRect/>
          </a:stretch>
        </p:blipFill>
        <p:spPr>
          <a:xfrm>
            <a:off x="10453421" y="1592885"/>
            <a:ext cx="380390" cy="380390"/>
          </a:xfrm>
          <a:prstGeom prst="rect">
            <a:avLst/>
          </a:prstGeom>
        </p:spPr>
      </p:pic>
      <p:sp>
        <p:nvSpPr>
          <p:cNvPr id="25" name="Text 18"/>
          <p:cNvSpPr txBox="1"/>
          <p:nvPr/>
        </p:nvSpPr>
        <p:spPr>
          <a:xfrm>
            <a:off x="9619488" y="2240280"/>
            <a:ext cx="2048256" cy="365760"/>
          </a:xfrm>
          <a:prstGeom prst="rect">
            <a:avLst/>
          </a:prstGeom>
          <a:noFill/>
          <a:ln/>
        </p:spPr>
        <p:txBody>
          <a:bodyPr wrap="square" lIns="0" tIns="0" rIns="0" bIns="0" rtlCol="0" anchor="ctr"/>
          <a:lstStyle/>
          <a:p>
            <a:pPr algn="ctr" indent="0" marL="0">
              <a:buNone/>
            </a:pPr>
            <a:r>
              <a:rPr lang="en-US" sz="1600" b="1" dirty="0">
                <a:solidFill>
                  <a:schemeClr val="tx1"/>
                </a:solidFill>
              </a:rPr>
              <a:t>STSMC gains</a:t>
            </a:r>
            <a:endParaRPr lang="en-US" sz="1600" dirty="0"/>
          </a:p>
        </p:txBody>
      </p:sp>
      <p:sp>
        <p:nvSpPr>
          <p:cNvPr id="26" name="Text 19"/>
          <p:cNvSpPr txBox="1"/>
          <p:nvPr/>
        </p:nvSpPr>
        <p:spPr>
          <a:xfrm>
            <a:off x="9619488" y="2606040"/>
            <a:ext cx="2048256" cy="685800"/>
          </a:xfrm>
          <a:prstGeom prst="rect">
            <a:avLst/>
          </a:prstGeom>
          <a:noFill/>
          <a:ln/>
        </p:spPr>
        <p:txBody>
          <a:bodyPr wrap="square" lIns="0" tIns="0" rIns="0" bIns="0" rtlCol="0" anchor="t"/>
          <a:lstStyle/>
          <a:p>
            <a:pPr algn="ctr" indent="0" marL="0">
              <a:buNone/>
            </a:pPr>
            <a:r>
              <a:rPr lang="en-US" sz="1300" dirty="0">
                <a:solidFill>
                  <a:schemeClr val="tx2"/>
                </a:solidFill>
              </a:rPr>
              <a:t>RSI picks k1, k2, λ</a:t>
            </a:r>
            <a:endParaRPr lang="en-US" sz="1300" dirty="0"/>
          </a:p>
        </p:txBody>
      </p:sp>
      <p:sp>
        <p:nvSpPr>
          <p:cNvPr id="27" name="rule card"/>
          <p:cNvSpPr/>
          <p:nvPr/>
        </p:nvSpPr>
        <p:spPr>
          <a:xfrm>
            <a:off x="548640" y="3611880"/>
            <a:ext cx="11064240" cy="2560320"/>
          </a:xfrm>
          <a:prstGeom prst="roundRect">
            <a:avLst>
              <a:gd name="adj" fmla="val 3571"/>
            </a:avLst>
          </a:prstGeom>
          <a:solidFill>
            <a:schemeClr val="bg2"/>
          </a:solidFill>
          <a:ln/>
        </p:spPr>
      </p:sp>
      <p:sp>
        <p:nvSpPr>
          <p:cNvPr id="28" name="Text 21"/>
          <p:cNvSpPr txBox="1"/>
          <p:nvPr/>
        </p:nvSpPr>
        <p:spPr>
          <a:xfrm>
            <a:off x="777240" y="3749040"/>
            <a:ext cx="10607040" cy="365760"/>
          </a:xfrm>
          <a:prstGeom prst="rect">
            <a:avLst/>
          </a:prstGeom>
          <a:noFill/>
          <a:ln/>
        </p:spPr>
        <p:txBody>
          <a:bodyPr wrap="square" lIns="0" tIns="0" rIns="0" bIns="0" rtlCol="0" anchor="ctr"/>
          <a:lstStyle/>
          <a:p>
            <a:pPr indent="0" marL="0">
              <a:buNone/>
            </a:pPr>
            <a:r>
              <a:rPr lang="en-US" sz="1600" b="1" dirty="0">
                <a:solidFill>
                  <a:schemeClr val="tx1"/>
                </a:solidFill>
              </a:rPr>
              <a:t>Rule applied to each frame (boxes with confidence ≥ 0.15)</a:t>
            </a:r>
            <a:endParaRPr lang="en-US" sz="1600" dirty="0"/>
          </a:p>
        </p:txBody>
      </p:sp>
      <p:sp>
        <p:nvSpPr>
          <p:cNvPr id="29" name="Pothole chip"/>
          <p:cNvSpPr txBox="1"/>
          <p:nvPr/>
        </p:nvSpPr>
        <p:spPr>
          <a:xfrm>
            <a:off x="777240" y="4206240"/>
            <a:ext cx="2103120" cy="365760"/>
          </a:xfrm>
          <a:prstGeom prst="roundRect">
            <a:avLst>
              <a:gd name="adj" fmla="val 20000"/>
            </a:avLst>
          </a:prstGeom>
          <a:solidFill>
            <a:schemeClr val="accent5"/>
          </a:solidFill>
          <a:ln/>
        </p:spPr>
        <p:txBody>
          <a:bodyPr wrap="square" lIns="0" tIns="0" rIns="0" bIns="0" rtlCol="0" anchor="ctr"/>
          <a:lstStyle/>
          <a:p>
            <a:pPr algn="ctr" indent="0" marL="0">
              <a:buNone/>
            </a:pPr>
            <a:r>
              <a:rPr lang="en-US" sz="1300" b="1" dirty="0">
                <a:solidFill>
                  <a:schemeClr val="bg1"/>
                </a:solidFill>
              </a:rPr>
              <a:t>Pothole  0.95</a:t>
            </a:r>
            <a:endParaRPr lang="en-US" sz="1300" dirty="0"/>
          </a:p>
        </p:txBody>
      </p:sp>
      <p:sp>
        <p:nvSpPr>
          <p:cNvPr id="30" name="Text 23"/>
          <p:cNvSpPr txBox="1"/>
          <p:nvPr/>
        </p:nvSpPr>
        <p:spPr>
          <a:xfrm>
            <a:off x="3063240" y="4206240"/>
            <a:ext cx="8321040" cy="365760"/>
          </a:xfrm>
          <a:prstGeom prst="rect">
            <a:avLst/>
          </a:prstGeom>
          <a:noFill/>
          <a:ln/>
        </p:spPr>
        <p:txBody>
          <a:bodyPr wrap="square" lIns="0" tIns="0" rIns="0" bIns="0" rtlCol="0" anchor="ctr"/>
          <a:lstStyle/>
          <a:p>
            <a:pPr indent="0" marL="0">
              <a:buNone/>
            </a:pPr>
            <a:r>
              <a:rPr lang="en-US" sz="1400" dirty="0">
                <a:solidFill>
                  <a:schemeClr val="tx1"/>
                </a:solidFill>
              </a:rPr>
              <a:t>Any pothole</a:t>
            </a:r>
            <a:endParaRPr lang="en-US" sz="1400" dirty="0"/>
          </a:p>
        </p:txBody>
      </p:sp>
      <p:sp>
        <p:nvSpPr>
          <p:cNvPr id="31" name="Rough chip"/>
          <p:cNvSpPr txBox="1"/>
          <p:nvPr/>
        </p:nvSpPr>
        <p:spPr>
          <a:xfrm>
            <a:off x="777240" y="4663440"/>
            <a:ext cx="2103120" cy="365760"/>
          </a:xfrm>
          <a:prstGeom prst="roundRect">
            <a:avLst>
              <a:gd name="adj" fmla="val 20000"/>
            </a:avLst>
          </a:prstGeom>
          <a:solidFill>
            <a:schemeClr val="accent4"/>
          </a:solidFill>
          <a:ln/>
        </p:spPr>
        <p:txBody>
          <a:bodyPr wrap="square" lIns="0" tIns="0" rIns="0" bIns="0" rtlCol="0" anchor="ctr"/>
          <a:lstStyle/>
          <a:p>
            <a:pPr algn="ctr" indent="0" marL="0">
              <a:buNone/>
            </a:pPr>
            <a:r>
              <a:rPr lang="en-US" sz="1300" b="1" dirty="0">
                <a:solidFill>
                  <a:schemeClr val="bg1"/>
                </a:solidFill>
              </a:rPr>
              <a:t>Rough  0.65</a:t>
            </a:r>
            <a:endParaRPr lang="en-US" sz="1300" dirty="0"/>
          </a:p>
        </p:txBody>
      </p:sp>
      <p:sp>
        <p:nvSpPr>
          <p:cNvPr id="32" name="Text 25"/>
          <p:cNvSpPr txBox="1"/>
          <p:nvPr/>
        </p:nvSpPr>
        <p:spPr>
          <a:xfrm>
            <a:off x="3063240" y="4663440"/>
            <a:ext cx="8321040" cy="365760"/>
          </a:xfrm>
          <a:prstGeom prst="rect">
            <a:avLst/>
          </a:prstGeom>
          <a:noFill/>
          <a:ln/>
        </p:spPr>
        <p:txBody>
          <a:bodyPr wrap="square" lIns="0" tIns="0" rIns="0" bIns="0" rtlCol="0" anchor="ctr"/>
          <a:lstStyle/>
          <a:p>
            <a:pPr indent="0" marL="0">
              <a:buNone/>
            </a:pPr>
            <a:r>
              <a:rPr lang="en-US" sz="1400" dirty="0">
                <a:solidFill>
                  <a:schemeClr val="tx1"/>
                </a:solidFill>
              </a:rPr>
              <a:t>Any alligator crack, or crack boxes covering ≥ 7% of the frame (overlaps counted once)</a:t>
            </a:r>
            <a:endParaRPr lang="en-US" sz="1400" dirty="0"/>
          </a:p>
        </p:txBody>
      </p:sp>
      <p:sp>
        <p:nvSpPr>
          <p:cNvPr id="33" name="Normal chip"/>
          <p:cNvSpPr txBox="1"/>
          <p:nvPr/>
        </p:nvSpPr>
        <p:spPr>
          <a:xfrm>
            <a:off x="777240" y="5120640"/>
            <a:ext cx="2103120" cy="365760"/>
          </a:xfrm>
          <a:prstGeom prst="roundRect">
            <a:avLst>
              <a:gd name="adj" fmla="val 20000"/>
            </a:avLst>
          </a:prstGeom>
          <a:solidFill>
            <a:schemeClr val="accent3"/>
          </a:solidFill>
          <a:ln/>
        </p:spPr>
        <p:txBody>
          <a:bodyPr wrap="square" lIns="0" tIns="0" rIns="0" bIns="0" rtlCol="0" anchor="ctr"/>
          <a:lstStyle/>
          <a:p>
            <a:pPr algn="ctr" indent="0" marL="0">
              <a:buNone/>
            </a:pPr>
            <a:r>
              <a:rPr lang="en-US" sz="1300" b="1" dirty="0">
                <a:solidFill>
                  <a:schemeClr val="tx1"/>
                </a:solidFill>
              </a:rPr>
              <a:t>Normal  0.35</a:t>
            </a:r>
            <a:endParaRPr lang="en-US" sz="1300" dirty="0"/>
          </a:p>
        </p:txBody>
      </p:sp>
      <p:sp>
        <p:nvSpPr>
          <p:cNvPr id="34" name="Text 27"/>
          <p:cNvSpPr txBox="1"/>
          <p:nvPr/>
        </p:nvSpPr>
        <p:spPr>
          <a:xfrm>
            <a:off x="3063240" y="5120640"/>
            <a:ext cx="8321040" cy="365760"/>
          </a:xfrm>
          <a:prstGeom prst="rect">
            <a:avLst/>
          </a:prstGeom>
          <a:noFill/>
          <a:ln/>
        </p:spPr>
        <p:txBody>
          <a:bodyPr wrap="square" lIns="0" tIns="0" rIns="0" bIns="0" rtlCol="0" anchor="ctr"/>
          <a:lstStyle/>
          <a:p>
            <a:pPr indent="0" marL="0">
              <a:buNone/>
            </a:pPr>
            <a:r>
              <a:rPr lang="en-US" sz="1400" dirty="0">
                <a:solidFill>
                  <a:schemeClr val="tx1"/>
                </a:solidFill>
              </a:rPr>
              <a:t>Any other crack</a:t>
            </a:r>
            <a:endParaRPr lang="en-US" sz="1400" dirty="0"/>
          </a:p>
        </p:txBody>
      </p:sp>
      <p:sp>
        <p:nvSpPr>
          <p:cNvPr id="35" name="Smooth chip"/>
          <p:cNvSpPr txBox="1"/>
          <p:nvPr/>
        </p:nvSpPr>
        <p:spPr>
          <a:xfrm>
            <a:off x="777240" y="5577840"/>
            <a:ext cx="2103120" cy="365760"/>
          </a:xfrm>
          <a:prstGeom prst="roundRect">
            <a:avLst>
              <a:gd name="adj" fmla="val 20000"/>
            </a:avLst>
          </a:prstGeom>
          <a:solidFill>
            <a:schemeClr val="accent2"/>
          </a:solidFill>
          <a:ln/>
        </p:spPr>
        <p:txBody>
          <a:bodyPr wrap="square" lIns="0" tIns="0" rIns="0" bIns="0" rtlCol="0" anchor="ctr"/>
          <a:lstStyle/>
          <a:p>
            <a:pPr algn="ctr" indent="0" marL="0">
              <a:buNone/>
            </a:pPr>
            <a:r>
              <a:rPr lang="en-US" sz="1300" b="1" dirty="0">
                <a:solidFill>
                  <a:schemeClr val="bg1"/>
                </a:solidFill>
              </a:rPr>
              <a:t>Smooth  0.10</a:t>
            </a:r>
            <a:endParaRPr lang="en-US" sz="1300" dirty="0"/>
          </a:p>
        </p:txBody>
      </p:sp>
      <p:sp>
        <p:nvSpPr>
          <p:cNvPr id="36" name="Text 29"/>
          <p:cNvSpPr txBox="1"/>
          <p:nvPr/>
        </p:nvSpPr>
        <p:spPr>
          <a:xfrm>
            <a:off x="3063240" y="5577840"/>
            <a:ext cx="8321040" cy="365760"/>
          </a:xfrm>
          <a:prstGeom prst="rect">
            <a:avLst/>
          </a:prstGeom>
          <a:noFill/>
          <a:ln/>
        </p:spPr>
        <p:txBody>
          <a:bodyPr wrap="square" lIns="0" tIns="0" rIns="0" bIns="0" rtlCol="0" anchor="ctr"/>
          <a:lstStyle/>
          <a:p>
            <a:pPr indent="0" marL="0">
              <a:buNone/>
            </a:pPr>
            <a:r>
              <a:rPr lang="en-US" sz="1400" dirty="0">
                <a:solidFill>
                  <a:schemeClr val="tx1"/>
                </a:solidFill>
              </a:rPr>
              <a:t>No defects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Training converged after ~40 epochs</a:t>
            </a:r>
            <a:endParaRPr lang="en-US" sz="3600" dirty="0"/>
          </a:p>
        </p:txBody>
      </p:sp>
      <p:graphicFrame>
        <p:nvGraphicFramePr>
          <p:cNvPr id="3" name="training curve chart" descr=""/>
          <p:cNvGraphicFramePr/>
          <p:nvPr/>
        </p:nvGraphicFramePr>
        <p:xfrm>
          <a:off x="548640" y="1371600"/>
          <a:ext cx="713232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046720" y="1417320"/>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Setup</a:t>
            </a:r>
            <a:endParaRPr lang="en-US" sz="1800" dirty="0"/>
          </a:p>
        </p:txBody>
      </p:sp>
      <p:sp>
        <p:nvSpPr>
          <p:cNvPr id="5" name="Text 2"/>
          <p:cNvSpPr txBox="1"/>
          <p:nvPr/>
        </p:nvSpPr>
        <p:spPr>
          <a:xfrm>
            <a:off x="8046720" y="1828800"/>
            <a:ext cx="356616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YOLOv8s, COCO-pretrained</a:t>
            </a:r>
            <a:endParaRPr lang="en-US" sz="1400" dirty="0"/>
          </a:p>
          <a:p>
            <a:pPr marL="342900" indent="-342900">
              <a:spcAft>
                <a:spcPts val="600"/>
              </a:spcAft>
              <a:buSzPct val="100000"/>
              <a:buChar char="•"/>
            </a:pPr>
            <a:r>
              <a:rPr lang="en-US" sz="1400" dirty="0">
                <a:solidFill>
                  <a:schemeClr val="tx1"/>
                </a:solidFill>
              </a:rPr>
              <a:t>60 epochs, 640 px, batch 16</a:t>
            </a:r>
            <a:endParaRPr lang="en-US" sz="1400" dirty="0"/>
          </a:p>
          <a:p>
            <a:pPr marL="342900" indent="-342900">
              <a:spcAft>
                <a:spcPts val="600"/>
              </a:spcAft>
              <a:buSzPct val="100000"/>
              <a:buChar char="•"/>
            </a:pPr>
            <a:r>
              <a:rPr lang="en-US" sz="1400" dirty="0">
                <a:solidFill>
                  <a:schemeClr val="tx1"/>
                </a:solidFill>
              </a:rPr>
              <a:t>RTX 5060 laptop GPU, ~3.7 min/epoch</a:t>
            </a:r>
            <a:endParaRPr lang="en-US" sz="1400" dirty="0"/>
          </a:p>
          <a:p>
            <a:pPr marL="342900" indent="-342900">
              <a:spcAft>
                <a:spcPts val="600"/>
              </a:spcAft>
              <a:buSzPct val="100000"/>
              <a:buChar char="•"/>
            </a:pPr>
            <a:r>
              <a:rPr lang="en-US" sz="1400" b="1" dirty="0">
                <a:solidFill>
                  <a:schemeClr val="tx1"/>
                </a:solidFill>
              </a:rPr>
              <a:t>Best checkpoint: epoch 59</a:t>
            </a:r>
            <a:endParaRPr lang="en-US" sz="1400" dirty="0"/>
          </a:p>
        </p:txBody>
      </p:sp>
      <p:sp>
        <p:nvSpPr>
          <p:cNvPr id="6" name="Text 3"/>
          <p:cNvSpPr txBox="1"/>
          <p:nvPr/>
        </p:nvSpPr>
        <p:spPr>
          <a:xfrm>
            <a:off x="8046720" y="3749040"/>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Incidents</a:t>
            </a:r>
            <a:endParaRPr lang="en-US" sz="1800" dirty="0"/>
          </a:p>
        </p:txBody>
      </p:sp>
      <p:sp>
        <p:nvSpPr>
          <p:cNvPr id="7" name="Text 4"/>
          <p:cNvSpPr txBox="1"/>
          <p:nvPr/>
        </p:nvSpPr>
        <p:spPr>
          <a:xfrm>
            <a:off x="8046720" y="416052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Out of memory after epoch 1: restarted with 2 data workers</a:t>
            </a:r>
            <a:endParaRPr lang="en-US" sz="1400" dirty="0"/>
          </a:p>
          <a:p>
            <a:pPr marL="342900" indent="-342900">
              <a:spcAft>
                <a:spcPts val="600"/>
              </a:spcAft>
              <a:buSzPct val="100000"/>
              <a:buChar char="•"/>
            </a:pPr>
            <a:r>
              <a:rPr lang="en-US" sz="1400" dirty="0">
                <a:solidFill>
                  <a:schemeClr val="tx1"/>
                </a:solidFill>
              </a:rPr>
              <a:t>Stopped at epoch 51 by an app update: resumed from epoch 50, nothing lost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Potholes are the hardest boxes</a:t>
            </a:r>
            <a:endParaRPr lang="en-US" sz="3600" dirty="0"/>
          </a:p>
        </p:txBody>
      </p:sp>
      <p:graphicFrame>
        <p:nvGraphicFramePr>
          <p:cNvPr id="3" name="per-class chart"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explanation card"/>
          <p:cNvSpPr/>
          <p:nvPr/>
        </p:nvSpPr>
        <p:spPr>
          <a:xfrm>
            <a:off x="7863840" y="1463040"/>
            <a:ext cx="3749040" cy="4526280"/>
          </a:xfrm>
          <a:prstGeom prst="roundRect">
            <a:avLst>
              <a:gd name="adj" fmla="val 2439"/>
            </a:avLst>
          </a:prstGeom>
          <a:solidFill>
            <a:schemeClr val="bg2"/>
          </a:solidFill>
          <a:ln/>
        </p:spPr>
      </p:sp>
      <p:sp>
        <p:nvSpPr>
          <p:cNvPr id="5" name="small potholes circle"/>
          <p:cNvSpPr/>
          <p:nvPr/>
        </p:nvSpPr>
        <p:spPr>
          <a:xfrm>
            <a:off x="8092440" y="1691640"/>
            <a:ext cx="640080" cy="640080"/>
          </a:xfrm>
          <a:prstGeom prst="ellipse">
            <a:avLst/>
          </a:prstGeom>
          <a:solidFill>
            <a:schemeClr val="accent1"/>
          </a:solidFill>
          <a:ln/>
        </p:spPr>
      </p:sp>
      <p:pic>
        <p:nvPicPr>
          <p:cNvPr id="6" name="small potholes icon" descr="small potholes">    </p:cNvPr>
          <p:cNvPicPr>
            <a:picLocks noChangeAspect="1"/>
          </p:cNvPicPr>
          <p:nvPr/>
        </p:nvPicPr>
        <p:blipFill>
          <a:blip r:embed="rId2"/>
          <a:stretch>
            <a:fillRect/>
          </a:stretch>
        </p:blipFill>
        <p:spPr>
          <a:xfrm>
            <a:off x="8246059" y="1845259"/>
            <a:ext cx="332842" cy="332842"/>
          </a:xfrm>
          <a:prstGeom prst="rect">
            <a:avLst/>
          </a:prstGeom>
        </p:spPr>
      </p:pic>
      <p:sp>
        <p:nvSpPr>
          <p:cNvPr id="7" name="Text 3"/>
          <p:cNvSpPr txBox="1"/>
          <p:nvPr/>
        </p:nvSpPr>
        <p:spPr>
          <a:xfrm>
            <a:off x="8092440" y="2468880"/>
            <a:ext cx="3291840" cy="411480"/>
          </a:xfrm>
          <a:prstGeom prst="rect">
            <a:avLst/>
          </a:prstGeom>
          <a:noFill/>
          <a:ln/>
        </p:spPr>
        <p:txBody>
          <a:bodyPr wrap="square" lIns="0" tIns="0" rIns="0" bIns="0" rtlCol="0" anchor="ctr"/>
          <a:lstStyle/>
          <a:p>
            <a:pPr indent="0" marL="0">
              <a:buNone/>
            </a:pPr>
            <a:r>
              <a:rPr lang="en-US" sz="1600" b="1" dirty="0">
                <a:solidFill>
                  <a:schemeClr val="tx1"/>
                </a:solidFill>
              </a:rPr>
              <a:t>Why pothole boxes score low</a:t>
            </a:r>
            <a:endParaRPr lang="en-US" sz="1600" dirty="0"/>
          </a:p>
        </p:txBody>
      </p:sp>
      <p:sp>
        <p:nvSpPr>
          <p:cNvPr id="8" name="Text 4"/>
          <p:cNvSpPr txBox="1"/>
          <p:nvPr/>
        </p:nvSpPr>
        <p:spPr>
          <a:xfrm>
            <a:off x="8092440" y="2880360"/>
            <a:ext cx="3291840" cy="1280160"/>
          </a:xfrm>
          <a:prstGeom prst="rect">
            <a:avLst/>
          </a:prstGeom>
          <a:noFill/>
          <a:ln/>
        </p:spPr>
        <p:txBody>
          <a:bodyPr wrap="square" lIns="0" tIns="0" rIns="0" bIns="0" rtlCol="0" anchor="t"/>
          <a:lstStyle/>
          <a:p>
            <a:pPr indent="0" marL="0">
              <a:buNone/>
            </a:pPr>
            <a:r>
              <a:rPr lang="en-US" sz="1400" dirty="0">
                <a:solidFill>
                  <a:schemeClr val="tx2"/>
                </a:solidFill>
              </a:rPr>
              <a:t>RDD2022 dashcam frames contain many small, distant potholes. Missing some of them lowers per-box recall.</a:t>
            </a:r>
            <a:endParaRPr lang="en-US" sz="1400" dirty="0"/>
          </a:p>
        </p:txBody>
      </p:sp>
      <p:sp>
        <p:nvSpPr>
          <p:cNvPr id="9" name="Text 5"/>
          <p:cNvSpPr txBox="1"/>
          <p:nvPr/>
        </p:nvSpPr>
        <p:spPr>
          <a:xfrm>
            <a:off x="8092440" y="4206240"/>
            <a:ext cx="3291840" cy="1463040"/>
          </a:xfrm>
          <a:prstGeom prst="rect">
            <a:avLst/>
          </a:prstGeom>
          <a:noFill/>
          <a:ln/>
        </p:spPr>
        <p:txBody>
          <a:bodyPr wrap="square" lIns="0" tIns="0" rIns="0" bIns="0" rtlCol="0" anchor="t"/>
          <a:lstStyle/>
          <a:p>
            <a:pPr indent="0" marL="0">
              <a:buNone/>
            </a:pPr>
            <a:r>
              <a:rPr lang="en-US" sz="1400" b="1" dirty="0">
                <a:solidFill>
                  <a:schemeClr val="tx1"/>
                </a:solidFill>
              </a:rPr>
              <a:t>The controller needs one confident box per frame, not every box — see the frame-level results next.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A lower threshold catches more potholes</a:t>
            </a:r>
            <a:endParaRPr lang="en-US" sz="3600" dirty="0"/>
          </a:p>
        </p:txBody>
      </p:sp>
      <p:graphicFrame>
        <p:nvGraphicFramePr>
          <p:cNvPr id="3" name="threshold chart" descr=""/>
          <p:cNvGraphicFramePr/>
          <p:nvPr/>
        </p:nvGraphicFramePr>
        <p:xfrm>
          <a:off x="548640" y="137160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choice card"/>
          <p:cNvSpPr/>
          <p:nvPr/>
        </p:nvSpPr>
        <p:spPr>
          <a:xfrm>
            <a:off x="7863840" y="1463040"/>
            <a:ext cx="3749040" cy="4526280"/>
          </a:xfrm>
          <a:prstGeom prst="roundRect">
            <a:avLst>
              <a:gd name="adj" fmla="val 2439"/>
            </a:avLst>
          </a:prstGeom>
          <a:solidFill>
            <a:schemeClr val="bg2"/>
          </a:solidFill>
          <a:ln/>
        </p:spPr>
      </p:sp>
      <p:sp>
        <p:nvSpPr>
          <p:cNvPr id="5" name="Text 2"/>
          <p:cNvSpPr txBox="1"/>
          <p:nvPr/>
        </p:nvSpPr>
        <p:spPr>
          <a:xfrm>
            <a:off x="8092440" y="1645920"/>
            <a:ext cx="3291840" cy="365760"/>
          </a:xfrm>
          <a:prstGeom prst="rect">
            <a:avLst/>
          </a:prstGeom>
          <a:noFill/>
          <a:ln/>
        </p:spPr>
        <p:txBody>
          <a:bodyPr wrap="square" lIns="0" tIns="0" rIns="0" bIns="0" rtlCol="0" anchor="ctr"/>
          <a:lstStyle/>
          <a:p>
            <a:pPr indent="0" marL="0">
              <a:buNone/>
            </a:pPr>
            <a:r>
              <a:rPr lang="en-US" sz="1600" b="1" dirty="0">
                <a:solidFill>
                  <a:schemeClr val="tx2"/>
                </a:solidFill>
              </a:rPr>
              <a:t>Chosen</a:t>
            </a:r>
            <a:endParaRPr lang="en-US" sz="1600" dirty="0"/>
          </a:p>
        </p:txBody>
      </p:sp>
      <p:sp>
        <p:nvSpPr>
          <p:cNvPr id="6" name="Text 3"/>
          <p:cNvSpPr txBox="1"/>
          <p:nvPr/>
        </p:nvSpPr>
        <p:spPr>
          <a:xfrm>
            <a:off x="8092440" y="2011680"/>
            <a:ext cx="3291840" cy="914400"/>
          </a:xfrm>
          <a:prstGeom prst="rect">
            <a:avLst/>
          </a:prstGeom>
          <a:noFill/>
          <a:ln/>
        </p:spPr>
        <p:txBody>
          <a:bodyPr wrap="square" lIns="0" tIns="0" rIns="0" bIns="0" rtlCol="0" anchor="ctr"/>
          <a:lstStyle/>
          <a:p>
            <a:pPr indent="0" marL="0">
              <a:buNone/>
            </a:pPr>
            <a:r>
              <a:rPr lang="en-US" sz="5400" b="1" dirty="0">
                <a:solidFill>
                  <a:schemeClr val="accent5"/>
                </a:solidFill>
                <a:latin typeface="Arial" pitchFamily="34" charset="0"/>
                <a:ea typeface="Arial" pitchFamily="34" charset="-122"/>
                <a:cs typeface="Arial" pitchFamily="34" charset="-120"/>
              </a:rPr>
              <a:t>0.15</a:t>
            </a:r>
            <a:endParaRPr lang="en-US" sz="5400" dirty="0"/>
          </a:p>
        </p:txBody>
      </p:sp>
      <p:sp>
        <p:nvSpPr>
          <p:cNvPr id="7" name="Text 4"/>
          <p:cNvSpPr txBox="1"/>
          <p:nvPr/>
        </p:nvSpPr>
        <p:spPr>
          <a:xfrm>
            <a:off x="8092440" y="2926080"/>
            <a:ext cx="3291840" cy="685800"/>
          </a:xfrm>
          <a:prstGeom prst="rect">
            <a:avLst/>
          </a:prstGeom>
          <a:noFill/>
          <a:ln/>
        </p:spPr>
        <p:txBody>
          <a:bodyPr wrap="square" lIns="0" tIns="0" rIns="0" bIns="0" rtlCol="0" anchor="t"/>
          <a:lstStyle/>
          <a:p>
            <a:pPr indent="0" marL="0">
              <a:buNone/>
            </a:pPr>
            <a:r>
              <a:rPr lang="en-US" sz="1400" dirty="0">
                <a:solidFill>
                  <a:schemeClr val="tx1"/>
                </a:solidFill>
              </a:rPr>
              <a:t>detection confidence, applied to every box</a:t>
            </a:r>
            <a:endParaRPr lang="en-US" sz="1400" dirty="0"/>
          </a:p>
        </p:txBody>
      </p:sp>
      <p:sp>
        <p:nvSpPr>
          <p:cNvPr id="8" name="Text 5"/>
          <p:cNvSpPr txBox="1"/>
          <p:nvPr/>
        </p:nvSpPr>
        <p:spPr>
          <a:xfrm>
            <a:off x="8092440" y="3703320"/>
            <a:ext cx="329184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Pothole recall 0.82 (vs 0.74 at 0.25)</a:t>
            </a:r>
            <a:endParaRPr lang="en-US" sz="1400" dirty="0"/>
          </a:p>
          <a:p>
            <a:pPr marL="342900" indent="-342900">
              <a:spcAft>
                <a:spcPts val="400"/>
              </a:spcAft>
              <a:buSzPct val="100000"/>
              <a:buChar char="•"/>
            </a:pPr>
            <a:r>
              <a:rPr lang="en-US" sz="1400" dirty="0">
                <a:solidFill>
                  <a:schemeClr val="tx1"/>
                </a:solidFill>
              </a:rPr>
              <a:t>Pothole precision 0.79 (vs 0.87)</a:t>
            </a:r>
            <a:endParaRPr lang="en-US" sz="1400" dirty="0"/>
          </a:p>
          <a:p>
            <a:pPr marL="342900" indent="-342900">
              <a:spcAft>
                <a:spcPts val="400"/>
              </a:spcAft>
              <a:buSzPct val="100000"/>
              <a:buChar char="•"/>
            </a:pPr>
            <a:r>
              <a:rPr lang="en-US" sz="1400" dirty="0">
                <a:solidFill>
                  <a:schemeClr val="tx1"/>
                </a:solidFill>
              </a:rPr>
              <a:t>Cost: more false pothole alarms</a:t>
            </a:r>
            <a:endParaRPr lang="en-US" sz="1400" dirty="0"/>
          </a:p>
        </p:txBody>
      </p:sp>
      <p:sp>
        <p:nvSpPr>
          <p:cNvPr id="9" name="Text 6"/>
          <p:cNvSpPr txBox="1"/>
          <p:nvPr/>
        </p:nvSpPr>
        <p:spPr>
          <a:xfrm>
            <a:off x="8092440" y="4937760"/>
            <a:ext cx="3291840" cy="822960"/>
          </a:xfrm>
          <a:prstGeom prst="rect">
            <a:avLst/>
          </a:prstGeom>
          <a:noFill/>
          <a:ln/>
        </p:spPr>
        <p:txBody>
          <a:bodyPr wrap="square" lIns="0" tIns="0" rIns="0" bIns="0" rtlCol="0" anchor="t"/>
          <a:lstStyle/>
          <a:p>
            <a:pPr indent="0" marL="0">
              <a:buNone/>
            </a:pPr>
            <a:r>
              <a:rPr lang="en-US" sz="1400" b="1" dirty="0">
                <a:solidFill>
                  <a:schemeClr val="tx1"/>
                </a:solidFill>
              </a:rPr>
              <a:t>A missed pothole is worse than a false alarm for the suspension.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82.8% of test frames classed correctly</a:t>
            </a:r>
            <a:endParaRPr lang="en-US" sz="3600" dirty="0"/>
          </a:p>
        </p:txBody>
      </p:sp>
      <p:graphicFrame>
        <p:nvGraphicFramePr>
          <p:cNvPr id="11" name="confusion matrix"/>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2011680"/>
                <a:gridCol w="1188720"/>
                <a:gridCol w="1188720"/>
                <a:gridCol w="1188720"/>
                <a:gridCol w="1188720"/>
              </a:tblGrid>
              <a:tr h="685800">
                <a:tc>
                  <a:txBody>
                    <a:bodyPr/>
                    <a:lstStyle/>
                    <a:p>
                      <a:pPr indent="0" marL="0">
                        <a:buNone/>
                      </a:pPr>
                      <a:r>
                        <a:rPr lang="en-US" sz="1300" b="1" dirty="0">
                          <a:solidFill>
                            <a:schemeClr val="bg1"/>
                          </a:solidFill>
                        </a:rPr>
                        <a:t>True ↓  Predicted →</a:t>
                      </a:r>
                      <a:endParaRPr lang="en-US" sz="13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Smooth</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Normal</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Rough</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Pothole</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r>
              <a:tr h="685800">
                <a:tc>
                  <a:txBody>
                    <a:bodyPr/>
                    <a:lstStyle/>
                    <a:p>
                      <a:pPr indent="0" marL="0">
                        <a:buNone/>
                      </a:pPr>
                      <a:r>
                        <a:rPr lang="en-US" sz="1400" b="1" dirty="0">
                          <a:solidFill>
                            <a:schemeClr val="tx1"/>
                          </a:solidFill>
                        </a:rPr>
                        <a:t>Smooth</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600" b="1" dirty="0">
                          <a:solidFill>
                            <a:schemeClr val="bg1"/>
                          </a:solidFill>
                        </a:rPr>
                        <a:t>289</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600" dirty="0">
                          <a:solidFill>
                            <a:schemeClr val="tx1"/>
                          </a:solidFill>
                        </a:rPr>
                        <a:t>41</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23</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14</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Normal</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600" dirty="0">
                          <a:solidFill>
                            <a:schemeClr val="tx1"/>
                          </a:solidFill>
                        </a:rPr>
                        <a:t>39</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rPr>
                        <a:t>343</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600" b="1" dirty="0">
                          <a:solidFill>
                            <a:schemeClr val="bg1"/>
                          </a:solidFill>
                        </a:rPr>
                        <a:t>92</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600" dirty="0">
                          <a:solidFill>
                            <a:schemeClr val="tx1"/>
                          </a:solidFill>
                        </a:rPr>
                        <a:t>12</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Rough</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600" dirty="0">
                          <a:solidFill>
                            <a:schemeClr val="tx1"/>
                          </a:solidFill>
                        </a:rPr>
                        <a:t>32</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57</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rPr>
                        <a:t>962</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600" dirty="0">
                          <a:solidFill>
                            <a:schemeClr val="tx1"/>
                          </a:solidFill>
                        </a:rPr>
                        <a:t>36</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Pothole</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600" dirty="0">
                          <a:solidFill>
                            <a:schemeClr val="tx1"/>
                          </a:solidFill>
                        </a:rPr>
                        <a:t>22</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8</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33</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rPr>
                        <a:t>375</a:t>
                      </a:r>
                      <a:endParaRPr lang="en-US" sz="16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r>
            </a:tbl>
          </a:graphicData>
        </a:graphic>
      </p:graphicFrame>
      <p:sp>
        <p:nvSpPr>
          <p:cNvPr id="4" name="Text 1"/>
          <p:cNvSpPr txBox="1"/>
          <p:nvPr/>
        </p:nvSpPr>
        <p:spPr>
          <a:xfrm>
            <a:off x="548640" y="5029200"/>
            <a:ext cx="6766560" cy="457200"/>
          </a:xfrm>
          <a:prstGeom prst="rect">
            <a:avLst/>
          </a:prstGeom>
          <a:noFill/>
          <a:ln/>
        </p:spPr>
        <p:txBody>
          <a:bodyPr wrap="square" lIns="0" tIns="0" rIns="0" bIns="0" rtlCol="0" anchor="ctr"/>
          <a:lstStyle/>
          <a:p>
            <a:pPr indent="0" marL="0">
              <a:buNone/>
            </a:pPr>
            <a:r>
              <a:rPr lang="en-US" sz="1300" dirty="0">
                <a:solidFill>
                  <a:schemeClr val="tx2"/>
                </a:solidFill>
              </a:rPr>
              <a:t>Green = correct. Orange = largest error: 92 Normal frames called Rough.</a:t>
            </a:r>
            <a:endParaRPr lang="en-US" sz="1300" dirty="0"/>
          </a:p>
        </p:txBody>
      </p:sp>
      <p:sp>
        <p:nvSpPr>
          <p:cNvPr id="5" name="Text 2"/>
          <p:cNvSpPr txBox="1"/>
          <p:nvPr/>
        </p:nvSpPr>
        <p:spPr>
          <a:xfrm>
            <a:off x="7772400" y="1417320"/>
            <a:ext cx="3840480" cy="365760"/>
          </a:xfrm>
          <a:prstGeom prst="rect">
            <a:avLst/>
          </a:prstGeom>
          <a:noFill/>
          <a:ln/>
        </p:spPr>
        <p:txBody>
          <a:bodyPr wrap="square" lIns="0" tIns="0" rIns="0" bIns="0" rtlCol="0" anchor="ctr"/>
          <a:lstStyle/>
          <a:p>
            <a:pPr indent="0" marL="0">
              <a:buNone/>
            </a:pPr>
            <a:r>
              <a:rPr lang="en-US" sz="1800" b="1" dirty="0">
                <a:solidFill>
                  <a:schemeClr val="tx1"/>
                </a:solidFill>
              </a:rPr>
              <a:t>Recall per class</a:t>
            </a:r>
            <a:endParaRPr lang="en-US" sz="1800" dirty="0"/>
          </a:p>
        </p:txBody>
      </p:sp>
      <p:sp>
        <p:nvSpPr>
          <p:cNvPr id="6" name="Smooth chip"/>
          <p:cNvSpPr txBox="1"/>
          <p:nvPr/>
        </p:nvSpPr>
        <p:spPr>
          <a:xfrm>
            <a:off x="7772400" y="1920240"/>
            <a:ext cx="1737360" cy="548640"/>
          </a:xfrm>
          <a:prstGeom prst="roundRect">
            <a:avLst>
              <a:gd name="adj" fmla="val 13333"/>
            </a:avLst>
          </a:prstGeom>
          <a:solidFill>
            <a:schemeClr val="accent2"/>
          </a:solidFill>
          <a:ln/>
        </p:spPr>
        <p:txBody>
          <a:bodyPr wrap="square" lIns="0" tIns="0" rIns="0" bIns="0" rtlCol="0" anchor="ctr"/>
          <a:lstStyle/>
          <a:p>
            <a:pPr algn="ctr" indent="0" marL="0">
              <a:buNone/>
            </a:pPr>
            <a:r>
              <a:rPr lang="en-US" sz="1500" b="1" dirty="0">
                <a:solidFill>
                  <a:schemeClr val="bg1"/>
                </a:solidFill>
              </a:rPr>
              <a:t>Smooth</a:t>
            </a:r>
            <a:endParaRPr lang="en-US" sz="1500" dirty="0"/>
          </a:p>
        </p:txBody>
      </p:sp>
      <p:sp>
        <p:nvSpPr>
          <p:cNvPr id="7" name="Text 4"/>
          <p:cNvSpPr txBox="1"/>
          <p:nvPr/>
        </p:nvSpPr>
        <p:spPr>
          <a:xfrm>
            <a:off x="9692640" y="1828800"/>
            <a:ext cx="1280160" cy="73152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79%</a:t>
            </a:r>
            <a:endParaRPr lang="en-US" sz="3200" dirty="0"/>
          </a:p>
        </p:txBody>
      </p:sp>
      <p:sp>
        <p:nvSpPr>
          <p:cNvPr id="8" name="Normal chip"/>
          <p:cNvSpPr txBox="1"/>
          <p:nvPr/>
        </p:nvSpPr>
        <p:spPr>
          <a:xfrm>
            <a:off x="7772400" y="2788920"/>
            <a:ext cx="1737360" cy="548640"/>
          </a:xfrm>
          <a:prstGeom prst="roundRect">
            <a:avLst>
              <a:gd name="adj" fmla="val 13333"/>
            </a:avLst>
          </a:prstGeom>
          <a:solidFill>
            <a:schemeClr val="accent3"/>
          </a:solidFill>
          <a:ln/>
        </p:spPr>
        <p:txBody>
          <a:bodyPr wrap="square" lIns="0" tIns="0" rIns="0" bIns="0" rtlCol="0" anchor="ctr"/>
          <a:lstStyle/>
          <a:p>
            <a:pPr algn="ctr" indent="0" marL="0">
              <a:buNone/>
            </a:pPr>
            <a:r>
              <a:rPr lang="en-US" sz="1500" b="1" dirty="0">
                <a:solidFill>
                  <a:schemeClr val="tx1"/>
                </a:solidFill>
              </a:rPr>
              <a:t>Normal</a:t>
            </a:r>
            <a:endParaRPr lang="en-US" sz="1500" dirty="0"/>
          </a:p>
        </p:txBody>
      </p:sp>
      <p:sp>
        <p:nvSpPr>
          <p:cNvPr id="9" name="Text 6"/>
          <p:cNvSpPr txBox="1"/>
          <p:nvPr/>
        </p:nvSpPr>
        <p:spPr>
          <a:xfrm>
            <a:off x="9692640" y="2697480"/>
            <a:ext cx="1280160" cy="73152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71%</a:t>
            </a:r>
            <a:endParaRPr lang="en-US" sz="3200" dirty="0"/>
          </a:p>
        </p:txBody>
      </p:sp>
      <p:sp>
        <p:nvSpPr>
          <p:cNvPr id="10" name="Text 7"/>
          <p:cNvSpPr txBox="1"/>
          <p:nvPr/>
        </p:nvSpPr>
        <p:spPr>
          <a:xfrm>
            <a:off x="10927080" y="2788920"/>
            <a:ext cx="777240" cy="548640"/>
          </a:xfrm>
          <a:prstGeom prst="rect">
            <a:avLst/>
          </a:prstGeom>
          <a:noFill/>
          <a:ln/>
        </p:spPr>
        <p:txBody>
          <a:bodyPr wrap="square" lIns="0" tIns="0" rIns="0" bIns="0" rtlCol="0" anchor="ctr"/>
          <a:lstStyle/>
          <a:p>
            <a:pPr indent="0" marL="0">
              <a:buNone/>
            </a:pPr>
            <a:r>
              <a:rPr lang="en-US" sz="1300" b="1" dirty="0">
                <a:solidFill>
                  <a:schemeClr val="accent5"/>
                </a:solidFill>
              </a:rPr>
              <a:t>lowest</a:t>
            </a:r>
            <a:endParaRPr lang="en-US" sz="1300" dirty="0"/>
          </a:p>
        </p:txBody>
      </p:sp>
      <p:sp>
        <p:nvSpPr>
          <p:cNvPr id="11" name="Rough chip"/>
          <p:cNvSpPr txBox="1"/>
          <p:nvPr/>
        </p:nvSpPr>
        <p:spPr>
          <a:xfrm>
            <a:off x="7772400" y="3657600"/>
            <a:ext cx="1737360" cy="548640"/>
          </a:xfrm>
          <a:prstGeom prst="roundRect">
            <a:avLst>
              <a:gd name="adj" fmla="val 13333"/>
            </a:avLst>
          </a:prstGeom>
          <a:solidFill>
            <a:schemeClr val="accent4"/>
          </a:solidFill>
          <a:ln/>
        </p:spPr>
        <p:txBody>
          <a:bodyPr wrap="square" lIns="0" tIns="0" rIns="0" bIns="0" rtlCol="0" anchor="ctr"/>
          <a:lstStyle/>
          <a:p>
            <a:pPr algn="ctr" indent="0" marL="0">
              <a:buNone/>
            </a:pPr>
            <a:r>
              <a:rPr lang="en-US" sz="1500" b="1" dirty="0">
                <a:solidFill>
                  <a:schemeClr val="bg1"/>
                </a:solidFill>
              </a:rPr>
              <a:t>Rough</a:t>
            </a:r>
            <a:endParaRPr lang="en-US" sz="1500" dirty="0"/>
          </a:p>
        </p:txBody>
      </p:sp>
      <p:sp>
        <p:nvSpPr>
          <p:cNvPr id="12" name="Text 9"/>
          <p:cNvSpPr txBox="1"/>
          <p:nvPr/>
        </p:nvSpPr>
        <p:spPr>
          <a:xfrm>
            <a:off x="9692640" y="3566160"/>
            <a:ext cx="1280160" cy="73152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89%</a:t>
            </a:r>
            <a:endParaRPr lang="en-US" sz="3200" dirty="0"/>
          </a:p>
        </p:txBody>
      </p:sp>
      <p:sp>
        <p:nvSpPr>
          <p:cNvPr id="13" name="Pothole chip"/>
          <p:cNvSpPr txBox="1"/>
          <p:nvPr/>
        </p:nvSpPr>
        <p:spPr>
          <a:xfrm>
            <a:off x="7772400" y="4526280"/>
            <a:ext cx="1737360" cy="548640"/>
          </a:xfrm>
          <a:prstGeom prst="roundRect">
            <a:avLst>
              <a:gd name="adj" fmla="val 13333"/>
            </a:avLst>
          </a:prstGeom>
          <a:solidFill>
            <a:schemeClr val="accent5"/>
          </a:solidFill>
          <a:ln/>
        </p:spPr>
        <p:txBody>
          <a:bodyPr wrap="square" lIns="0" tIns="0" rIns="0" bIns="0" rtlCol="0" anchor="ctr"/>
          <a:lstStyle/>
          <a:p>
            <a:pPr algn="ctr" indent="0" marL="0">
              <a:buNone/>
            </a:pPr>
            <a:r>
              <a:rPr lang="en-US" sz="1500" b="1" dirty="0">
                <a:solidFill>
                  <a:schemeClr val="bg1"/>
                </a:solidFill>
              </a:rPr>
              <a:t>Pothole</a:t>
            </a:r>
            <a:endParaRPr lang="en-US" sz="1500" dirty="0"/>
          </a:p>
        </p:txBody>
      </p:sp>
      <p:sp>
        <p:nvSpPr>
          <p:cNvPr id="14" name="Text 11"/>
          <p:cNvSpPr txBox="1"/>
          <p:nvPr/>
        </p:nvSpPr>
        <p:spPr>
          <a:xfrm>
            <a:off x="9692640" y="4434840"/>
            <a:ext cx="1280160" cy="731520"/>
          </a:xfrm>
          <a:prstGeom prst="rect">
            <a:avLst/>
          </a:prstGeom>
          <a:noFill/>
          <a:ln/>
        </p:spPr>
        <p:txBody>
          <a:bodyPr wrap="square" lIns="0" tIns="0" rIns="0" bIns="0" rtlCol="0" anchor="ctr"/>
          <a:lstStyle/>
          <a:p>
            <a:pPr indent="0" marL="0">
              <a:buNone/>
            </a:pPr>
            <a:r>
              <a:rPr lang="en-US" sz="3200" b="1" dirty="0">
                <a:solidFill>
                  <a:schemeClr val="tx1"/>
                </a:solidFill>
                <a:latin typeface="Arial" pitchFamily="34" charset="0"/>
                <a:ea typeface="Arial" pitchFamily="34" charset="-122"/>
                <a:cs typeface="Arial" pitchFamily="34" charset="-120"/>
              </a:rPr>
              <a:t>86%</a:t>
            </a:r>
            <a:endParaRPr lang="en-US" sz="3200" dirty="0"/>
          </a:p>
        </p:txBody>
      </p:sp>
      <p:sp>
        <p:nvSpPr>
          <p:cNvPr id="15" name="Text 12"/>
          <p:cNvSpPr txBox="1"/>
          <p:nvPr/>
        </p:nvSpPr>
        <p:spPr>
          <a:xfrm>
            <a:off x="7772400" y="5440680"/>
            <a:ext cx="3840480" cy="731520"/>
          </a:xfrm>
          <a:prstGeom prst="rect">
            <a:avLst/>
          </a:prstGeom>
          <a:noFill/>
          <a:ln/>
        </p:spPr>
        <p:txBody>
          <a:bodyPr wrap="square" lIns="0" tIns="0" rIns="0" bIns="0" rtlCol="0" anchor="t"/>
          <a:lstStyle/>
          <a:p>
            <a:pPr indent="0" marL="0">
              <a:buNone/>
            </a:pPr>
            <a:r>
              <a:rPr lang="en-US" sz="1200" dirty="0">
                <a:solidFill>
                  <a:schemeClr val="tx2"/>
                </a:solidFill>
              </a:rPr>
              <a:t>2,378 held-out test images. The true class is computed from the labelled boxes (summed crack area ≥ 5% = Rough), not labelled by hand.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Counting crack area once lifts Normal</a:t>
            </a:r>
            <a:endParaRPr lang="en-US" sz="3600" dirty="0"/>
          </a:p>
        </p:txBody>
      </p:sp>
      <p:graphicFrame>
        <p:nvGraphicFramePr>
          <p:cNvPr id="3" name="normal fix chart" descr=""/>
          <p:cNvGraphicFramePr/>
          <p:nvPr/>
        </p:nvGraphicFramePr>
        <p:xfrm>
          <a:off x="548640" y="1371600"/>
          <a:ext cx="6309360" cy="4754880"/>
        </p:xfrm>
        <a:graphic xmlns:a="http://schemas.openxmlformats.org/drawingml/2006/main">
          <a:graphicData uri="http://schemas.openxmlformats.org/drawingml/2006/chart">
            <c:chart xmlns:c="http://schemas.openxmlformats.org/drawingml/2006/chart" r:id="rId1"/>
          </a:graphicData>
        </a:graphic>
      </p:graphicFrame>
      <p:sp>
        <p:nvSpPr>
          <p:cNvPr id="4" name="Cause circle"/>
          <p:cNvSpPr/>
          <p:nvPr/>
        </p:nvSpPr>
        <p:spPr>
          <a:xfrm>
            <a:off x="7223760" y="1508760"/>
            <a:ext cx="640080" cy="640080"/>
          </a:xfrm>
          <a:prstGeom prst="ellipse">
            <a:avLst/>
          </a:prstGeom>
          <a:solidFill>
            <a:schemeClr val="accent1"/>
          </a:solidFill>
          <a:ln/>
        </p:spPr>
      </p:sp>
      <p:pic>
        <p:nvPicPr>
          <p:cNvPr id="5" name="Cause icon" descr="Cause">    </p:cNvPr>
          <p:cNvPicPr>
            <a:picLocks noChangeAspect="1"/>
          </p:cNvPicPr>
          <p:nvPr/>
        </p:nvPicPr>
        <p:blipFill>
          <a:blip r:embed="rId2"/>
          <a:stretch>
            <a:fillRect/>
          </a:stretch>
        </p:blipFill>
        <p:spPr>
          <a:xfrm>
            <a:off x="7377379" y="1662379"/>
            <a:ext cx="332842" cy="332842"/>
          </a:xfrm>
          <a:prstGeom prst="rect">
            <a:avLst/>
          </a:prstGeom>
        </p:spPr>
      </p:pic>
      <p:sp>
        <p:nvSpPr>
          <p:cNvPr id="6" name="Text 2"/>
          <p:cNvSpPr txBox="1"/>
          <p:nvPr/>
        </p:nvSpPr>
        <p:spPr>
          <a:xfrm>
            <a:off x="8046720" y="1463040"/>
            <a:ext cx="3566160" cy="365760"/>
          </a:xfrm>
          <a:prstGeom prst="rect">
            <a:avLst/>
          </a:prstGeom>
          <a:noFill/>
          <a:ln/>
        </p:spPr>
        <p:txBody>
          <a:bodyPr wrap="square" lIns="0" tIns="0" rIns="0" bIns="0" rtlCol="0" anchor="ctr"/>
          <a:lstStyle/>
          <a:p>
            <a:pPr indent="0" marL="0">
              <a:buNone/>
            </a:pPr>
            <a:r>
              <a:rPr lang="en-US" sz="1600" b="1" dirty="0">
                <a:solidFill>
                  <a:schemeClr val="tx1"/>
                </a:solidFill>
              </a:rPr>
              <a:t>Cause</a:t>
            </a:r>
            <a:endParaRPr lang="en-US" sz="1600" dirty="0"/>
          </a:p>
        </p:txBody>
      </p:sp>
      <p:sp>
        <p:nvSpPr>
          <p:cNvPr id="7" name="Text 3"/>
          <p:cNvSpPr txBox="1"/>
          <p:nvPr/>
        </p:nvSpPr>
        <p:spPr>
          <a:xfrm>
            <a:off x="8046720" y="1847088"/>
            <a:ext cx="3566160" cy="1051560"/>
          </a:xfrm>
          <a:prstGeom prst="rect">
            <a:avLst/>
          </a:prstGeom>
          <a:noFill/>
          <a:ln/>
        </p:spPr>
        <p:txBody>
          <a:bodyPr wrap="square" lIns="0" tIns="0" rIns="0" bIns="0" rtlCol="0" anchor="t"/>
          <a:lstStyle/>
          <a:p>
            <a:pPr indent="0" marL="0">
              <a:buNone/>
            </a:pPr>
            <a:r>
              <a:rPr lang="en-US" sz="1300" dirty="0">
                <a:solidFill>
                  <a:schemeClr val="tx2"/>
                </a:solidFill>
              </a:rPr>
              <a:t>Predicted crack area was ~1.8× the labelled area in Normal frames: overlapping boxes were counted twice, and the 5% line sits close to real Normal crack areas.</a:t>
            </a:r>
            <a:endParaRPr lang="en-US" sz="1300" dirty="0"/>
          </a:p>
        </p:txBody>
      </p:sp>
      <p:sp>
        <p:nvSpPr>
          <p:cNvPr id="8" name="Fix (no retraining) circle"/>
          <p:cNvSpPr/>
          <p:nvPr/>
        </p:nvSpPr>
        <p:spPr>
          <a:xfrm>
            <a:off x="7223760" y="3063240"/>
            <a:ext cx="640080" cy="640080"/>
          </a:xfrm>
          <a:prstGeom prst="ellipse">
            <a:avLst/>
          </a:prstGeom>
          <a:solidFill>
            <a:schemeClr val="accent1"/>
          </a:solidFill>
          <a:ln/>
        </p:spPr>
      </p:sp>
      <p:pic>
        <p:nvPicPr>
          <p:cNvPr id="9" name="Fix (no retraining) icon" descr="Fix (no retraining)">    </p:cNvPr>
          <p:cNvPicPr>
            <a:picLocks noChangeAspect="1"/>
          </p:cNvPicPr>
          <p:nvPr/>
        </p:nvPicPr>
        <p:blipFill>
          <a:blip r:embed="rId3"/>
          <a:stretch>
            <a:fillRect/>
          </a:stretch>
        </p:blipFill>
        <p:spPr>
          <a:xfrm>
            <a:off x="7377379" y="3216859"/>
            <a:ext cx="332842" cy="332842"/>
          </a:xfrm>
          <a:prstGeom prst="rect">
            <a:avLst/>
          </a:prstGeom>
        </p:spPr>
      </p:pic>
      <p:sp>
        <p:nvSpPr>
          <p:cNvPr id="10" name="Text 5"/>
          <p:cNvSpPr txBox="1"/>
          <p:nvPr/>
        </p:nvSpPr>
        <p:spPr>
          <a:xfrm>
            <a:off x="8046720" y="3017520"/>
            <a:ext cx="3566160" cy="365760"/>
          </a:xfrm>
          <a:prstGeom prst="rect">
            <a:avLst/>
          </a:prstGeom>
          <a:noFill/>
          <a:ln/>
        </p:spPr>
        <p:txBody>
          <a:bodyPr wrap="square" lIns="0" tIns="0" rIns="0" bIns="0" rtlCol="0" anchor="ctr"/>
          <a:lstStyle/>
          <a:p>
            <a:pPr indent="0" marL="0">
              <a:buNone/>
            </a:pPr>
            <a:r>
              <a:rPr lang="en-US" sz="1600" b="1" dirty="0">
                <a:solidFill>
                  <a:schemeClr val="tx1"/>
                </a:solidFill>
              </a:rPr>
              <a:t>Fix (no retraining)</a:t>
            </a:r>
            <a:endParaRPr lang="en-US" sz="1600" dirty="0"/>
          </a:p>
        </p:txBody>
      </p:sp>
      <p:sp>
        <p:nvSpPr>
          <p:cNvPr id="11" name="Text 6"/>
          <p:cNvSpPr txBox="1"/>
          <p:nvPr/>
        </p:nvSpPr>
        <p:spPr>
          <a:xfrm>
            <a:off x="8046720" y="3401568"/>
            <a:ext cx="3566160" cy="1051560"/>
          </a:xfrm>
          <a:prstGeom prst="rect">
            <a:avLst/>
          </a:prstGeom>
          <a:noFill/>
          <a:ln/>
        </p:spPr>
        <p:txBody>
          <a:bodyPr wrap="square" lIns="0" tIns="0" rIns="0" bIns="0" rtlCol="0" anchor="t"/>
          <a:lstStyle/>
          <a:p>
            <a:pPr indent="0" marL="0">
              <a:buNone/>
            </a:pPr>
            <a:r>
              <a:rPr lang="en-US" sz="1300" dirty="0">
                <a:solidFill>
                  <a:schemeClr val="tx2"/>
                </a:solidFill>
              </a:rPr>
              <a:t>Measure the combined area the crack boxes cover, overlaps once, with a 7% line. Tuned on the validation set.</a:t>
            </a:r>
            <a:endParaRPr lang="en-US" sz="1300" dirty="0"/>
          </a:p>
        </p:txBody>
      </p:sp>
      <p:sp>
        <p:nvSpPr>
          <p:cNvPr id="12" name="Result circle"/>
          <p:cNvSpPr/>
          <p:nvPr/>
        </p:nvSpPr>
        <p:spPr>
          <a:xfrm>
            <a:off x="7223760" y="4617720"/>
            <a:ext cx="640080" cy="640080"/>
          </a:xfrm>
          <a:prstGeom prst="ellipse">
            <a:avLst/>
          </a:prstGeom>
          <a:solidFill>
            <a:schemeClr val="accent1"/>
          </a:solidFill>
          <a:ln/>
        </p:spPr>
      </p:sp>
      <p:pic>
        <p:nvPicPr>
          <p:cNvPr id="13" name="Result icon" descr="Result">    </p:cNvPr>
          <p:cNvPicPr>
            <a:picLocks noChangeAspect="1"/>
          </p:cNvPicPr>
          <p:nvPr/>
        </p:nvPicPr>
        <p:blipFill>
          <a:blip r:embed="rId4"/>
          <a:stretch>
            <a:fillRect/>
          </a:stretch>
        </p:blipFill>
        <p:spPr>
          <a:xfrm>
            <a:off x="7377379" y="4771339"/>
            <a:ext cx="332842" cy="332842"/>
          </a:xfrm>
          <a:prstGeom prst="rect">
            <a:avLst/>
          </a:prstGeom>
        </p:spPr>
      </p:pic>
      <p:sp>
        <p:nvSpPr>
          <p:cNvPr id="14" name="Text 8"/>
          <p:cNvSpPr txBox="1"/>
          <p:nvPr/>
        </p:nvSpPr>
        <p:spPr>
          <a:xfrm>
            <a:off x="8046720" y="4572000"/>
            <a:ext cx="3566160" cy="365760"/>
          </a:xfrm>
          <a:prstGeom prst="rect">
            <a:avLst/>
          </a:prstGeom>
          <a:noFill/>
          <a:ln/>
        </p:spPr>
        <p:txBody>
          <a:bodyPr wrap="square" lIns="0" tIns="0" rIns="0" bIns="0" rtlCol="0" anchor="ctr"/>
          <a:lstStyle/>
          <a:p>
            <a:pPr indent="0" marL="0">
              <a:buNone/>
            </a:pPr>
            <a:r>
              <a:rPr lang="en-US" sz="1600" b="1" dirty="0">
                <a:solidFill>
                  <a:schemeClr val="tx1"/>
                </a:solidFill>
              </a:rPr>
              <a:t>Result</a:t>
            </a:r>
            <a:endParaRPr lang="en-US" sz="1600" dirty="0"/>
          </a:p>
        </p:txBody>
      </p:sp>
      <p:sp>
        <p:nvSpPr>
          <p:cNvPr id="15" name="Text 9"/>
          <p:cNvSpPr txBox="1"/>
          <p:nvPr/>
        </p:nvSpPr>
        <p:spPr>
          <a:xfrm>
            <a:off x="8046720" y="4956048"/>
            <a:ext cx="3566160" cy="1051560"/>
          </a:xfrm>
          <a:prstGeom prst="rect">
            <a:avLst/>
          </a:prstGeom>
          <a:noFill/>
          <a:ln/>
        </p:spPr>
        <p:txBody>
          <a:bodyPr wrap="square" lIns="0" tIns="0" rIns="0" bIns="0" rtlCol="0" anchor="t"/>
          <a:lstStyle/>
          <a:p>
            <a:pPr indent="0" marL="0">
              <a:buNone/>
            </a:pPr>
            <a:r>
              <a:rPr lang="en-US" sz="1300" dirty="0">
                <a:solidFill>
                  <a:schemeClr val="tx2"/>
                </a:solidFill>
              </a:rPr>
              <a:t>Normal 0.56 → 0.71, accuracy 0.808 → 0.828. Trade-off: Rough 0.91 → 0.89. Potholes unchanged.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Errors lean toward a safer, stiffer ride</a:t>
            </a:r>
            <a:endParaRPr lang="en-US" sz="3600" dirty="0"/>
          </a:p>
        </p:txBody>
      </p:sp>
      <p:graphicFrame>
        <p:nvGraphicFramePr>
          <p:cNvPr id="3" name="error doughnut" descr=""/>
          <p:cNvGraphicFramePr/>
          <p:nvPr/>
        </p:nvGraphicFramePr>
        <p:xfrm>
          <a:off x="548640" y="1371600"/>
          <a:ext cx="5120640" cy="4754880"/>
        </p:xfrm>
        <a:graphic xmlns:a="http://schemas.openxmlformats.org/drawingml/2006/main">
          <a:graphicData uri="http://schemas.openxmlformats.org/drawingml/2006/chart">
            <c:chart xmlns:c="http://schemas.openxmlformats.org/drawingml/2006/chart" r:id="rId1"/>
          </a:graphicData>
        </a:graphic>
      </p:graphicFrame>
      <p:sp>
        <p:nvSpPr>
          <p:cNvPr id="4" name="doughnut centre"/>
          <p:cNvSpPr txBox="1"/>
          <p:nvPr/>
        </p:nvSpPr>
        <p:spPr>
          <a:xfrm>
            <a:off x="2194560" y="3246120"/>
            <a:ext cx="1828800" cy="914400"/>
          </a:xfrm>
          <a:prstGeom prst="rect">
            <a:avLst/>
          </a:prstGeom>
          <a:noFill/>
          <a:ln/>
        </p:spPr>
        <p:txBody>
          <a:bodyPr wrap="square" lIns="0" tIns="0" rIns="0" bIns="0" rtlCol="0" anchor="ctr"/>
          <a:lstStyle/>
          <a:p>
            <a:pPr algn="ctr" indent="0" marL="0">
              <a:buNone/>
            </a:pPr>
            <a:r>
              <a:rPr lang="en-US" sz="3200" b="1" dirty="0">
                <a:solidFill>
                  <a:schemeClr val="accent2"/>
                </a:solidFill>
                <a:latin typeface="Arial" pitchFamily="34" charset="0"/>
                <a:ea typeface="Arial" pitchFamily="34" charset="-122"/>
                <a:cs typeface="Arial" pitchFamily="34" charset="-120"/>
              </a:rPr>
              <a:t>82.8%</a:t>
            </a:r>
            <a:endParaRPr lang="en-US" sz="3200" dirty="0"/>
          </a:p>
          <a:p>
            <a:pPr algn="ctr" indent="0" marL="0">
              <a:buNone/>
            </a:pPr>
            <a:r>
              <a:rPr lang="en-US" sz="1400" dirty="0">
                <a:solidFill>
                  <a:schemeClr val="tx2"/>
                </a:solidFill>
              </a:rPr>
              <a:t>correct</a:t>
            </a:r>
            <a:endParaRPr lang="en-US" sz="3200" dirty="0"/>
          </a:p>
        </p:txBody>
      </p:sp>
      <p:sp>
        <p:nvSpPr>
          <p:cNvPr id="5" name="Over-estimate · 9.2% circle"/>
          <p:cNvSpPr/>
          <p:nvPr/>
        </p:nvSpPr>
        <p:spPr>
          <a:xfrm>
            <a:off x="6035040" y="1554480"/>
            <a:ext cx="594360" cy="594360"/>
          </a:xfrm>
          <a:prstGeom prst="ellipse">
            <a:avLst/>
          </a:prstGeom>
          <a:solidFill>
            <a:schemeClr val="accent1"/>
          </a:solidFill>
          <a:ln/>
        </p:spPr>
      </p:sp>
      <p:pic>
        <p:nvPicPr>
          <p:cNvPr id="6" name="Over-estimate · 9.2% icon" descr="Over-estimate · 9.2%">    </p:cNvPr>
          <p:cNvPicPr>
            <a:picLocks noChangeAspect="1"/>
          </p:cNvPicPr>
          <p:nvPr/>
        </p:nvPicPr>
        <p:blipFill>
          <a:blip r:embed="rId2"/>
          <a:stretch>
            <a:fillRect/>
          </a:stretch>
        </p:blipFill>
        <p:spPr>
          <a:xfrm>
            <a:off x="6177686" y="1697126"/>
            <a:ext cx="309067" cy="309067"/>
          </a:xfrm>
          <a:prstGeom prst="rect">
            <a:avLst/>
          </a:prstGeom>
        </p:spPr>
      </p:pic>
      <p:sp>
        <p:nvSpPr>
          <p:cNvPr id="7" name="Text 3"/>
          <p:cNvSpPr txBox="1"/>
          <p:nvPr/>
        </p:nvSpPr>
        <p:spPr>
          <a:xfrm>
            <a:off x="6812280" y="1463040"/>
            <a:ext cx="4800600" cy="365760"/>
          </a:xfrm>
          <a:prstGeom prst="rect">
            <a:avLst/>
          </a:prstGeom>
          <a:noFill/>
          <a:ln/>
        </p:spPr>
        <p:txBody>
          <a:bodyPr wrap="square" lIns="0" tIns="0" rIns="0" bIns="0" rtlCol="0" anchor="ctr"/>
          <a:lstStyle/>
          <a:p>
            <a:pPr indent="0" marL="0">
              <a:buNone/>
            </a:pPr>
            <a:r>
              <a:rPr lang="en-US" sz="1600" b="1" dirty="0">
                <a:solidFill>
                  <a:schemeClr val="tx1"/>
                </a:solidFill>
              </a:rPr>
              <a:t>Over-estimate · 9.2%</a:t>
            </a:r>
            <a:endParaRPr lang="en-US" sz="1600" dirty="0"/>
          </a:p>
        </p:txBody>
      </p:sp>
      <p:sp>
        <p:nvSpPr>
          <p:cNvPr id="8" name="Text 4"/>
          <p:cNvSpPr txBox="1"/>
          <p:nvPr/>
        </p:nvSpPr>
        <p:spPr>
          <a:xfrm>
            <a:off x="6812280" y="1828800"/>
            <a:ext cx="4800600" cy="685800"/>
          </a:xfrm>
          <a:prstGeom prst="rect">
            <a:avLst/>
          </a:prstGeom>
          <a:noFill/>
          <a:ln/>
        </p:spPr>
        <p:txBody>
          <a:bodyPr wrap="square" lIns="0" tIns="0" rIns="0" bIns="0" rtlCol="0" anchor="t"/>
          <a:lstStyle/>
          <a:p>
            <a:pPr indent="0" marL="0">
              <a:buNone/>
            </a:pPr>
            <a:r>
              <a:rPr lang="en-US" sz="1400" dirty="0">
                <a:solidFill>
                  <a:schemeClr val="tx2"/>
                </a:solidFill>
              </a:rPr>
              <a:t>Road called worse than it is. Suspension too stiff: less comfort, still safe.</a:t>
            </a:r>
            <a:endParaRPr lang="en-US" sz="1400" dirty="0"/>
          </a:p>
        </p:txBody>
      </p:sp>
      <p:sp>
        <p:nvSpPr>
          <p:cNvPr id="9" name="Under by 1 level · 5.4% circle"/>
          <p:cNvSpPr/>
          <p:nvPr/>
        </p:nvSpPr>
        <p:spPr>
          <a:xfrm>
            <a:off x="6035040" y="2724912"/>
            <a:ext cx="594360" cy="594360"/>
          </a:xfrm>
          <a:prstGeom prst="ellipse">
            <a:avLst/>
          </a:prstGeom>
          <a:solidFill>
            <a:schemeClr val="accent1"/>
          </a:solidFill>
          <a:ln/>
        </p:spPr>
      </p:sp>
      <p:pic>
        <p:nvPicPr>
          <p:cNvPr id="10" name="Under by 1 level · 5.4% icon" descr="Under by 1 level · 5.4%">    </p:cNvPr>
          <p:cNvPicPr>
            <a:picLocks noChangeAspect="1"/>
          </p:cNvPicPr>
          <p:nvPr/>
        </p:nvPicPr>
        <p:blipFill>
          <a:blip r:embed="rId3"/>
          <a:stretch>
            <a:fillRect/>
          </a:stretch>
        </p:blipFill>
        <p:spPr>
          <a:xfrm>
            <a:off x="6177686" y="2867558"/>
            <a:ext cx="309067" cy="309067"/>
          </a:xfrm>
          <a:prstGeom prst="rect">
            <a:avLst/>
          </a:prstGeom>
        </p:spPr>
      </p:pic>
      <p:sp>
        <p:nvSpPr>
          <p:cNvPr id="11" name="Text 6"/>
          <p:cNvSpPr txBox="1"/>
          <p:nvPr/>
        </p:nvSpPr>
        <p:spPr>
          <a:xfrm>
            <a:off x="6812280" y="2633472"/>
            <a:ext cx="4800600" cy="365760"/>
          </a:xfrm>
          <a:prstGeom prst="rect">
            <a:avLst/>
          </a:prstGeom>
          <a:noFill/>
          <a:ln/>
        </p:spPr>
        <p:txBody>
          <a:bodyPr wrap="square" lIns="0" tIns="0" rIns="0" bIns="0" rtlCol="0" anchor="ctr"/>
          <a:lstStyle/>
          <a:p>
            <a:pPr indent="0" marL="0">
              <a:buNone/>
            </a:pPr>
            <a:r>
              <a:rPr lang="en-US" sz="1600" b="1" dirty="0">
                <a:solidFill>
                  <a:schemeClr val="tx1"/>
                </a:solidFill>
              </a:rPr>
              <a:t>Under by 1 level · 5.4%</a:t>
            </a:r>
            <a:endParaRPr lang="en-US" sz="1600" dirty="0"/>
          </a:p>
        </p:txBody>
      </p:sp>
      <p:sp>
        <p:nvSpPr>
          <p:cNvPr id="12" name="Text 7"/>
          <p:cNvSpPr txBox="1"/>
          <p:nvPr/>
        </p:nvSpPr>
        <p:spPr>
          <a:xfrm>
            <a:off x="6812280" y="2999232"/>
            <a:ext cx="4800600" cy="685800"/>
          </a:xfrm>
          <a:prstGeom prst="rect">
            <a:avLst/>
          </a:prstGeom>
          <a:noFill/>
          <a:ln/>
        </p:spPr>
        <p:txBody>
          <a:bodyPr wrap="square" lIns="0" tIns="0" rIns="0" bIns="0" rtlCol="0" anchor="t"/>
          <a:lstStyle/>
          <a:p>
            <a:pPr indent="0" marL="0">
              <a:buNone/>
            </a:pPr>
            <a:r>
              <a:rPr lang="en-US" sz="1400" dirty="0">
                <a:solidFill>
                  <a:schemeClr val="tx2"/>
                </a:solidFill>
              </a:rPr>
              <a:t>Slightly too soft for the road.</a:t>
            </a:r>
            <a:endParaRPr lang="en-US" sz="1400" dirty="0"/>
          </a:p>
        </p:txBody>
      </p:sp>
      <p:sp>
        <p:nvSpPr>
          <p:cNvPr id="13" name="Under by 2+ levels · 2.6% circle"/>
          <p:cNvSpPr/>
          <p:nvPr/>
        </p:nvSpPr>
        <p:spPr>
          <a:xfrm>
            <a:off x="6035040" y="3895344"/>
            <a:ext cx="594360" cy="594360"/>
          </a:xfrm>
          <a:prstGeom prst="ellipse">
            <a:avLst/>
          </a:prstGeom>
          <a:solidFill>
            <a:schemeClr val="accent1"/>
          </a:solidFill>
          <a:ln/>
        </p:spPr>
      </p:sp>
      <p:pic>
        <p:nvPicPr>
          <p:cNvPr id="14" name="Under by 2+ levels · 2.6% icon" descr="Under by 2+ levels · 2.6%">    </p:cNvPr>
          <p:cNvPicPr>
            <a:picLocks noChangeAspect="1"/>
          </p:cNvPicPr>
          <p:nvPr/>
        </p:nvPicPr>
        <p:blipFill>
          <a:blip r:embed="rId4"/>
          <a:stretch>
            <a:fillRect/>
          </a:stretch>
        </p:blipFill>
        <p:spPr>
          <a:xfrm>
            <a:off x="6177686" y="4037990"/>
            <a:ext cx="309067" cy="309067"/>
          </a:xfrm>
          <a:prstGeom prst="rect">
            <a:avLst/>
          </a:prstGeom>
        </p:spPr>
      </p:pic>
      <p:sp>
        <p:nvSpPr>
          <p:cNvPr id="15" name="Text 9"/>
          <p:cNvSpPr txBox="1"/>
          <p:nvPr/>
        </p:nvSpPr>
        <p:spPr>
          <a:xfrm>
            <a:off x="6812280" y="3803904"/>
            <a:ext cx="4800600" cy="365760"/>
          </a:xfrm>
          <a:prstGeom prst="rect">
            <a:avLst/>
          </a:prstGeom>
          <a:noFill/>
          <a:ln/>
        </p:spPr>
        <p:txBody>
          <a:bodyPr wrap="square" lIns="0" tIns="0" rIns="0" bIns="0" rtlCol="0" anchor="ctr"/>
          <a:lstStyle/>
          <a:p>
            <a:pPr indent="0" marL="0">
              <a:buNone/>
            </a:pPr>
            <a:r>
              <a:rPr lang="en-US" sz="1600" b="1" dirty="0">
                <a:solidFill>
                  <a:schemeClr val="tx1"/>
                </a:solidFill>
              </a:rPr>
              <a:t>Under by 2+ levels · 2.6%</a:t>
            </a:r>
            <a:endParaRPr lang="en-US" sz="1600" dirty="0"/>
          </a:p>
        </p:txBody>
      </p:sp>
      <p:sp>
        <p:nvSpPr>
          <p:cNvPr id="16" name="Text 10"/>
          <p:cNvSpPr txBox="1"/>
          <p:nvPr/>
        </p:nvSpPr>
        <p:spPr>
          <a:xfrm>
            <a:off x="6812280" y="4169664"/>
            <a:ext cx="4800600" cy="685800"/>
          </a:xfrm>
          <a:prstGeom prst="rect">
            <a:avLst/>
          </a:prstGeom>
          <a:noFill/>
          <a:ln/>
        </p:spPr>
        <p:txBody>
          <a:bodyPr wrap="square" lIns="0" tIns="0" rIns="0" bIns="0" rtlCol="0" anchor="t"/>
          <a:lstStyle/>
          <a:p>
            <a:pPr indent="0" marL="0">
              <a:buNone/>
            </a:pPr>
            <a:r>
              <a:rPr lang="en-US" sz="1400" dirty="0">
                <a:solidFill>
                  <a:schemeClr val="tx2"/>
                </a:solidFill>
              </a:rPr>
              <a:t>Worst case, e.g. a pothole treated as Smooth: 62 frames.</a:t>
            </a:r>
            <a:endParaRPr lang="en-US" sz="1400" dirty="0"/>
          </a:p>
        </p:txBody>
      </p:sp>
      <p:sp>
        <p:nvSpPr>
          <p:cNvPr id="17" name="Missed potholes mostly still stiffen circle"/>
          <p:cNvSpPr/>
          <p:nvPr/>
        </p:nvSpPr>
        <p:spPr>
          <a:xfrm>
            <a:off x="6035040" y="5065776"/>
            <a:ext cx="594360" cy="594360"/>
          </a:xfrm>
          <a:prstGeom prst="ellipse">
            <a:avLst/>
          </a:prstGeom>
          <a:solidFill>
            <a:schemeClr val="accent1"/>
          </a:solidFill>
          <a:ln/>
        </p:spPr>
      </p:sp>
      <p:pic>
        <p:nvPicPr>
          <p:cNvPr id="18" name="Missed potholes mostly still stiffen icon" descr="Missed potholes mostly still stiffen">    </p:cNvPr>
          <p:cNvPicPr>
            <a:picLocks noChangeAspect="1"/>
          </p:cNvPicPr>
          <p:nvPr/>
        </p:nvPicPr>
        <p:blipFill>
          <a:blip r:embed="rId5"/>
          <a:stretch>
            <a:fillRect/>
          </a:stretch>
        </p:blipFill>
        <p:spPr>
          <a:xfrm>
            <a:off x="6177686" y="5208422"/>
            <a:ext cx="309067" cy="309067"/>
          </a:xfrm>
          <a:prstGeom prst="rect">
            <a:avLst/>
          </a:prstGeom>
        </p:spPr>
      </p:pic>
      <p:sp>
        <p:nvSpPr>
          <p:cNvPr id="19" name="Text 12"/>
          <p:cNvSpPr txBox="1"/>
          <p:nvPr/>
        </p:nvSpPr>
        <p:spPr>
          <a:xfrm>
            <a:off x="6812280" y="4974336"/>
            <a:ext cx="4800600" cy="365760"/>
          </a:xfrm>
          <a:prstGeom prst="rect">
            <a:avLst/>
          </a:prstGeom>
          <a:noFill/>
          <a:ln/>
        </p:spPr>
        <p:txBody>
          <a:bodyPr wrap="square" lIns="0" tIns="0" rIns="0" bIns="0" rtlCol="0" anchor="ctr"/>
          <a:lstStyle/>
          <a:p>
            <a:pPr indent="0" marL="0">
              <a:buNone/>
            </a:pPr>
            <a:r>
              <a:rPr lang="en-US" sz="1600" b="1" dirty="0">
                <a:solidFill>
                  <a:schemeClr val="tx1"/>
                </a:solidFill>
              </a:rPr>
              <a:t>Missed potholes mostly still stiffen</a:t>
            </a:r>
            <a:endParaRPr lang="en-US" sz="1600" dirty="0"/>
          </a:p>
        </p:txBody>
      </p:sp>
      <p:sp>
        <p:nvSpPr>
          <p:cNvPr id="20" name="Text 13"/>
          <p:cNvSpPr txBox="1"/>
          <p:nvPr/>
        </p:nvSpPr>
        <p:spPr>
          <a:xfrm>
            <a:off x="6812280" y="5340096"/>
            <a:ext cx="4800600" cy="685800"/>
          </a:xfrm>
          <a:prstGeom prst="rect">
            <a:avLst/>
          </a:prstGeom>
          <a:noFill/>
          <a:ln/>
        </p:spPr>
        <p:txBody>
          <a:bodyPr wrap="square" lIns="0" tIns="0" rIns="0" bIns="0" rtlCol="0" anchor="t"/>
          <a:lstStyle/>
          <a:p>
            <a:pPr indent="0" marL="0">
              <a:buNone/>
            </a:pPr>
            <a:r>
              <a:rPr lang="en-US" sz="1400" dirty="0">
                <a:solidFill>
                  <a:schemeClr val="tx2"/>
                </a:solidFill>
              </a:rPr>
              <a:t>Of 63 missed pothole frames, 33 were called Rough (RSI 0.65). Only 30 (7%) went to Smooth or Normal.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Small gain per box, big gain per frame</a:t>
            </a:r>
            <a:endParaRPr lang="en-US" sz="3600" dirty="0"/>
          </a:p>
        </p:txBody>
      </p:sp>
      <p:sp>
        <p:nvSpPr>
          <p:cNvPr id="3" name="Text 1"/>
          <p:cNvSpPr txBox="1"/>
          <p:nvPr/>
        </p:nvSpPr>
        <p:spPr>
          <a:xfrm>
            <a:off x="548640" y="1417320"/>
            <a:ext cx="6035040" cy="365760"/>
          </a:xfrm>
          <a:prstGeom prst="rect">
            <a:avLst/>
          </a:prstGeom>
          <a:noFill/>
          <a:ln/>
        </p:spPr>
        <p:txBody>
          <a:bodyPr wrap="square" lIns="0" tIns="0" rIns="0" bIns="0" rtlCol="0" anchor="ctr"/>
          <a:lstStyle/>
          <a:p>
            <a:pPr indent="0" marL="0">
              <a:buNone/>
            </a:pPr>
            <a:r>
              <a:rPr lang="en-US" sz="1600" b="1" dirty="0">
                <a:solidFill>
                  <a:schemeClr val="tx1"/>
                </a:solidFill>
              </a:rPr>
              <a:t>Same Kaggle validation images, per box</a:t>
            </a:r>
            <a:endParaRPr lang="en-US" sz="1600" dirty="0"/>
          </a:p>
        </p:txBody>
      </p:sp>
      <p:graphicFrame>
        <p:nvGraphicFramePr>
          <p:cNvPr id="14" name="old vs new table"/>
          <p:cNvGraphicFramePr>
            <a:graphicFrameLocks noGrp="1"/>
          </p:cNvGraphicFramePr>
          <p:nvPr>
            <p:extLst>
              <p:ext uri="{D42A27DB-BD31-4B8C-83A1-F6EECF244321}">
                <p14:modId xmlns:p14="http://schemas.microsoft.com/office/powerpoint/2010/main" val="1579011935"/>
              </p:ext>
            </p:extLst>
          </p:nvPr>
        </p:nvGraphicFramePr>
        <p:xfrm>
          <a:off x="548640" y="1874520"/>
          <a:ext cx="6035040" cy="914400"/>
        </p:xfrm>
        <a:graphic>
          <a:graphicData uri="http://schemas.openxmlformats.org/drawingml/2006/table">
            <a:tbl>
              <a:tblPr/>
              <a:tblGrid>
                <a:gridCol w="2377440"/>
                <a:gridCol w="1828800"/>
                <a:gridCol w="1828800"/>
              </a:tblGrid>
              <a:tr h="502920">
                <a:tc>
                  <a:txBody>
                    <a:bodyPr/>
                    <a:lstStyle/>
                    <a:p>
                      <a:pPr indent="0" marL="0">
                        <a:buNone/>
                      </a:pPr>
                      <a:r>
                        <a:rPr lang="en-US" sz="1400" b="1" dirty="0">
                          <a:solidFill>
                            <a:schemeClr val="bg1"/>
                          </a:solidFill>
                        </a:rPr>
                        <a:t>Metric</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Old (Kaggle only)</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New (merged)</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1"/>
                    </a:solidFill>
                  </a:tcPr>
                </a:tc>
              </a:tr>
              <a:tr h="502920">
                <a:tc>
                  <a:txBody>
                    <a:bodyPr/>
                    <a:lstStyle/>
                    <a:p>
                      <a:pPr algn="l" indent="0" marL="0">
                        <a:buNone/>
                      </a:pPr>
                      <a:r>
                        <a:rPr lang="en-US" sz="1400" b="1" dirty="0">
                          <a:solidFill>
                            <a:schemeClr val="tx1"/>
                          </a:solidFill>
                        </a:rPr>
                        <a:t>Pothole recall</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0.548</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0.588</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02920">
                <a:tc>
                  <a:txBody>
                    <a:bodyPr/>
                    <a:lstStyle/>
                    <a:p>
                      <a:pPr algn="l" indent="0" marL="0">
                        <a:buNone/>
                      </a:pPr>
                      <a:r>
                        <a:rPr lang="en-US" sz="1400" b="1" dirty="0">
                          <a:solidFill>
                            <a:schemeClr val="tx1"/>
                          </a:solidFill>
                        </a:rPr>
                        <a:t>Pothole mAP50</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0.678</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0.681</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02920">
                <a:tc>
                  <a:txBody>
                    <a:bodyPr/>
                    <a:lstStyle/>
                    <a:p>
                      <a:pPr algn="l" indent="0" marL="0">
                        <a:buNone/>
                      </a:pPr>
                      <a:r>
                        <a:rPr lang="en-US" sz="1400" b="1" dirty="0">
                          <a:solidFill>
                            <a:schemeClr val="tx1"/>
                          </a:solidFill>
                        </a:rPr>
                        <a:t>Crack mAP50</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0.761</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0.744</a:t>
                      </a:r>
                      <a:endParaRPr lang="en-US" sz="1400" dirty="0"/>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029200"/>
            <a:ext cx="6035040" cy="731520"/>
          </a:xfrm>
          <a:prstGeom prst="rect">
            <a:avLst/>
          </a:prstGeom>
          <a:noFill/>
          <a:ln/>
        </p:spPr>
        <p:txBody>
          <a:bodyPr wrap="square" lIns="0" tIns="0" rIns="0" bIns="0" rtlCol="0" anchor="t"/>
          <a:lstStyle/>
          <a:p>
            <a:pPr indent="0" marL="0">
              <a:buNone/>
            </a:pPr>
            <a:r>
              <a:rPr lang="en-US" sz="1400" dirty="0">
                <a:solidFill>
                  <a:schemeClr val="tx2"/>
                </a:solidFill>
              </a:rPr>
              <a:t>On the old benchmark the box scores barely move. Merging did not hurt the Kaggle classes.</a:t>
            </a:r>
            <a:endParaRPr lang="en-US" sz="1400" dirty="0"/>
          </a:p>
        </p:txBody>
      </p:sp>
      <p:sp>
        <p:nvSpPr>
          <p:cNvPr id="6" name="Text 3"/>
          <p:cNvSpPr txBox="1"/>
          <p:nvPr/>
        </p:nvSpPr>
        <p:spPr>
          <a:xfrm>
            <a:off x="7040880" y="1417320"/>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Per frame, pothole recall on the test set</a:t>
            </a:r>
            <a:endParaRPr lang="en-US" sz="1600" dirty="0"/>
          </a:p>
        </p:txBody>
      </p:sp>
      <p:sp>
        <p:nvSpPr>
          <p:cNvPr id="7" name="source result 1"/>
          <p:cNvSpPr/>
          <p:nvPr/>
        </p:nvSpPr>
        <p:spPr>
          <a:xfrm>
            <a:off x="7040880" y="1874520"/>
            <a:ext cx="4572000" cy="1691640"/>
          </a:xfrm>
          <a:prstGeom prst="roundRect">
            <a:avLst>
              <a:gd name="adj" fmla="val 5405"/>
            </a:avLst>
          </a:prstGeom>
          <a:solidFill>
            <a:schemeClr val="bg2"/>
          </a:solidFill>
          <a:ln/>
        </p:spPr>
      </p:sp>
      <p:sp>
        <p:nvSpPr>
          <p:cNvPr id="8" name="RDD2022 dashcam circle"/>
          <p:cNvSpPr/>
          <p:nvPr/>
        </p:nvSpPr>
        <p:spPr>
          <a:xfrm>
            <a:off x="7269480" y="2377440"/>
            <a:ext cx="685800" cy="685800"/>
          </a:xfrm>
          <a:prstGeom prst="ellipse">
            <a:avLst/>
          </a:prstGeom>
          <a:solidFill>
            <a:schemeClr val="accent1"/>
          </a:solidFill>
          <a:ln/>
        </p:spPr>
      </p:sp>
      <p:pic>
        <p:nvPicPr>
          <p:cNvPr id="9" name="RDD2022 dashcam icon" descr="RDD2022 dashcam">    </p:cNvPr>
          <p:cNvPicPr>
            <a:picLocks noChangeAspect="1"/>
          </p:cNvPicPr>
          <p:nvPr/>
        </p:nvPicPr>
        <p:blipFill>
          <a:blip r:embed="rId1"/>
          <a:stretch>
            <a:fillRect/>
          </a:stretch>
        </p:blipFill>
        <p:spPr>
          <a:xfrm>
            <a:off x="7434072" y="2542032"/>
            <a:ext cx="356616" cy="356616"/>
          </a:xfrm>
          <a:prstGeom prst="rect">
            <a:avLst/>
          </a:prstGeom>
        </p:spPr>
      </p:pic>
      <p:sp>
        <p:nvSpPr>
          <p:cNvPr id="10" name="Text 6"/>
          <p:cNvSpPr txBox="1"/>
          <p:nvPr/>
        </p:nvSpPr>
        <p:spPr>
          <a:xfrm>
            <a:off x="8138160" y="2057400"/>
            <a:ext cx="1645920" cy="914400"/>
          </a:xfrm>
          <a:prstGeom prst="rect">
            <a:avLst/>
          </a:prstGeom>
          <a:noFill/>
          <a:ln/>
        </p:spPr>
        <p:txBody>
          <a:bodyPr wrap="square" lIns="0" tIns="0" rIns="0" bIns="0" rtlCol="0" anchor="ctr"/>
          <a:lstStyle/>
          <a:p>
            <a:pPr indent="0" marL="0">
              <a:buNone/>
            </a:pPr>
            <a:r>
              <a:rPr lang="en-US" sz="4400" b="1" dirty="0">
                <a:solidFill>
                  <a:schemeClr val="accent5"/>
                </a:solidFill>
                <a:latin typeface="Arial" pitchFamily="34" charset="0"/>
                <a:ea typeface="Arial" pitchFamily="34" charset="-122"/>
                <a:cs typeface="Arial" pitchFamily="34" charset="-120"/>
              </a:rPr>
              <a:t>0.84</a:t>
            </a:r>
            <a:endParaRPr lang="en-US" sz="4400" dirty="0"/>
          </a:p>
        </p:txBody>
      </p:sp>
      <p:sp>
        <p:nvSpPr>
          <p:cNvPr id="11" name="Text 7"/>
          <p:cNvSpPr txBox="1"/>
          <p:nvPr/>
        </p:nvSpPr>
        <p:spPr>
          <a:xfrm>
            <a:off x="9784080" y="2148840"/>
            <a:ext cx="1691640" cy="411480"/>
          </a:xfrm>
          <a:prstGeom prst="rect">
            <a:avLst/>
          </a:prstGeom>
          <a:noFill/>
          <a:ln/>
        </p:spPr>
        <p:txBody>
          <a:bodyPr wrap="square" lIns="0" tIns="0" rIns="0" bIns="0" rtlCol="0" anchor="ctr"/>
          <a:lstStyle/>
          <a:p>
            <a:pPr indent="0" marL="0">
              <a:buNone/>
            </a:pPr>
            <a:r>
              <a:rPr lang="en-US" sz="1600" b="1" dirty="0">
                <a:solidFill>
                  <a:schemeClr val="tx1"/>
                </a:solidFill>
              </a:rPr>
              <a:t>RDD2022 dashcam</a:t>
            </a:r>
            <a:endParaRPr lang="en-US" sz="1600" dirty="0"/>
          </a:p>
        </p:txBody>
      </p:sp>
      <p:sp>
        <p:nvSpPr>
          <p:cNvPr id="12" name="Text 8"/>
          <p:cNvSpPr txBox="1"/>
          <p:nvPr/>
        </p:nvSpPr>
        <p:spPr>
          <a:xfrm>
            <a:off x="8138160" y="2926080"/>
            <a:ext cx="3337560" cy="502920"/>
          </a:xfrm>
          <a:prstGeom prst="rect">
            <a:avLst/>
          </a:prstGeom>
          <a:noFill/>
          <a:ln/>
        </p:spPr>
        <p:txBody>
          <a:bodyPr wrap="square" lIns="0" tIns="0" rIns="0" bIns="0" rtlCol="0" anchor="t"/>
          <a:lstStyle/>
          <a:p>
            <a:pPr indent="0" marL="0">
              <a:buNone/>
            </a:pPr>
            <a:r>
              <a:rPr lang="en-US" sz="1300" dirty="0">
                <a:solidFill>
                  <a:schemeClr val="tx2"/>
                </a:solidFill>
              </a:rPr>
              <a:t>2,212 frames · data the old model never saw</a:t>
            </a:r>
            <a:endParaRPr lang="en-US" sz="1300" dirty="0"/>
          </a:p>
        </p:txBody>
      </p:sp>
      <p:sp>
        <p:nvSpPr>
          <p:cNvPr id="13" name="source result 2"/>
          <p:cNvSpPr/>
          <p:nvPr/>
        </p:nvSpPr>
        <p:spPr>
          <a:xfrm>
            <a:off x="7040880" y="3794760"/>
            <a:ext cx="4572000" cy="1691640"/>
          </a:xfrm>
          <a:prstGeom prst="roundRect">
            <a:avLst>
              <a:gd name="adj" fmla="val 5405"/>
            </a:avLst>
          </a:prstGeom>
          <a:solidFill>
            <a:schemeClr val="bg2"/>
          </a:solidFill>
          <a:ln/>
        </p:spPr>
      </p:sp>
      <p:sp>
        <p:nvSpPr>
          <p:cNvPr id="14" name="Kaggle circle"/>
          <p:cNvSpPr/>
          <p:nvPr/>
        </p:nvSpPr>
        <p:spPr>
          <a:xfrm>
            <a:off x="7269480" y="4297680"/>
            <a:ext cx="685800" cy="685800"/>
          </a:xfrm>
          <a:prstGeom prst="ellipse">
            <a:avLst/>
          </a:prstGeom>
          <a:solidFill>
            <a:schemeClr val="accent1"/>
          </a:solidFill>
          <a:ln/>
        </p:spPr>
      </p:sp>
      <p:pic>
        <p:nvPicPr>
          <p:cNvPr id="15" name="Kaggle icon" descr="Kaggle">    </p:cNvPr>
          <p:cNvPicPr>
            <a:picLocks noChangeAspect="1"/>
          </p:cNvPicPr>
          <p:nvPr/>
        </p:nvPicPr>
        <p:blipFill>
          <a:blip r:embed="rId2"/>
          <a:stretch>
            <a:fillRect/>
          </a:stretch>
        </p:blipFill>
        <p:spPr>
          <a:xfrm>
            <a:off x="7434072" y="4462272"/>
            <a:ext cx="356616" cy="356616"/>
          </a:xfrm>
          <a:prstGeom prst="rect">
            <a:avLst/>
          </a:prstGeom>
        </p:spPr>
      </p:pic>
      <p:sp>
        <p:nvSpPr>
          <p:cNvPr id="16" name="Text 11"/>
          <p:cNvSpPr txBox="1"/>
          <p:nvPr/>
        </p:nvSpPr>
        <p:spPr>
          <a:xfrm>
            <a:off x="8138160" y="3977640"/>
            <a:ext cx="1645920" cy="914400"/>
          </a:xfrm>
          <a:prstGeom prst="rect">
            <a:avLst/>
          </a:prstGeom>
          <a:noFill/>
          <a:ln/>
        </p:spPr>
        <p:txBody>
          <a:bodyPr wrap="square" lIns="0" tIns="0" rIns="0" bIns="0" rtlCol="0" anchor="ctr"/>
          <a:lstStyle/>
          <a:p>
            <a:pPr indent="0" marL="0">
              <a:buNone/>
            </a:pPr>
            <a:r>
              <a:rPr lang="en-US" sz="4400" b="1" dirty="0">
                <a:solidFill>
                  <a:schemeClr val="accent5"/>
                </a:solidFill>
                <a:latin typeface="Arial" pitchFamily="34" charset="0"/>
                <a:ea typeface="Arial" pitchFamily="34" charset="-122"/>
                <a:cs typeface="Arial" pitchFamily="34" charset="-120"/>
              </a:rPr>
              <a:t>0.92</a:t>
            </a:r>
            <a:endParaRPr lang="en-US" sz="4400" dirty="0"/>
          </a:p>
        </p:txBody>
      </p:sp>
      <p:sp>
        <p:nvSpPr>
          <p:cNvPr id="17" name="Text 12"/>
          <p:cNvSpPr txBox="1"/>
          <p:nvPr/>
        </p:nvSpPr>
        <p:spPr>
          <a:xfrm>
            <a:off x="9784080" y="4069080"/>
            <a:ext cx="1691640" cy="411480"/>
          </a:xfrm>
          <a:prstGeom prst="rect">
            <a:avLst/>
          </a:prstGeom>
          <a:noFill/>
          <a:ln/>
        </p:spPr>
        <p:txBody>
          <a:bodyPr wrap="square" lIns="0" tIns="0" rIns="0" bIns="0" rtlCol="0" anchor="ctr"/>
          <a:lstStyle/>
          <a:p>
            <a:pPr indent="0" marL="0">
              <a:buNone/>
            </a:pPr>
            <a:r>
              <a:rPr lang="en-US" sz="1600" b="1" dirty="0">
                <a:solidFill>
                  <a:schemeClr val="tx1"/>
                </a:solidFill>
              </a:rPr>
              <a:t>Kaggle</a:t>
            </a:r>
            <a:endParaRPr lang="en-US" sz="1600" dirty="0"/>
          </a:p>
        </p:txBody>
      </p:sp>
      <p:sp>
        <p:nvSpPr>
          <p:cNvPr id="18" name="Text 13"/>
          <p:cNvSpPr txBox="1"/>
          <p:nvPr/>
        </p:nvSpPr>
        <p:spPr>
          <a:xfrm>
            <a:off x="8138160" y="4846320"/>
            <a:ext cx="3337560" cy="502920"/>
          </a:xfrm>
          <a:prstGeom prst="rect">
            <a:avLst/>
          </a:prstGeom>
          <a:noFill/>
          <a:ln/>
        </p:spPr>
        <p:txBody>
          <a:bodyPr wrap="square" lIns="0" tIns="0" rIns="0" bIns="0" rtlCol="0" anchor="t"/>
          <a:lstStyle/>
          <a:p>
            <a:pPr indent="0" marL="0">
              <a:buNone/>
            </a:pPr>
            <a:r>
              <a:rPr lang="en-US" sz="1300" dirty="0">
                <a:solidFill>
                  <a:schemeClr val="tx2"/>
                </a:solidFill>
              </a:rPr>
              <a:t>166 frames · close-up defects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Test videos: right calls, few false alarms</a:t>
            </a:r>
            <a:endParaRPr lang="en-US" sz="3600" dirty="0"/>
          </a:p>
        </p:txBody>
      </p:sp>
      <p:pic>
        <p:nvPicPr>
          <p:cNvPr id="3" name="video frame 1" descr="Potholed dirt road: many potholes boxed">    </p:cNvPr>
          <p:cNvPicPr>
            <a:picLocks noChangeAspect="1"/>
          </p:cNvPicPr>
          <p:nvPr/>
        </p:nvPicPr>
        <p:blipFill>
          <a:blip r:embed="rId1"/>
          <a:srcRect l="0" r="0" t="0" b="0"/>
          <a:stretch/>
        </p:blipFill>
        <p:spPr>
          <a:xfrm>
            <a:off x="548640" y="1417320"/>
            <a:ext cx="3566160" cy="2674620"/>
          </a:xfrm>
          <a:prstGeom prst="rect">
            <a:avLst/>
          </a:prstGeom>
        </p:spPr>
      </p:pic>
      <p:sp>
        <p:nvSpPr>
          <p:cNvPr id="4" name="Pothole chip"/>
          <p:cNvSpPr txBox="1"/>
          <p:nvPr/>
        </p:nvSpPr>
        <p:spPr>
          <a:xfrm>
            <a:off x="658368" y="1527048"/>
            <a:ext cx="1143000" cy="365760"/>
          </a:xfrm>
          <a:prstGeom prst="roundRect">
            <a:avLst>
              <a:gd name="adj" fmla="val 20000"/>
            </a:avLst>
          </a:prstGeom>
          <a:solidFill>
            <a:schemeClr val="accent5"/>
          </a:solidFill>
          <a:ln/>
        </p:spPr>
        <p:txBody>
          <a:bodyPr wrap="square" lIns="0" tIns="0" rIns="0" bIns="0" rtlCol="0" anchor="ctr"/>
          <a:lstStyle/>
          <a:p>
            <a:pPr algn="ctr" indent="0" marL="0">
              <a:buNone/>
            </a:pPr>
            <a:r>
              <a:rPr lang="en-US" sz="1300" b="1" dirty="0">
                <a:solidFill>
                  <a:schemeClr val="bg1"/>
                </a:solidFill>
              </a:rPr>
              <a:t>Pothole</a:t>
            </a:r>
            <a:endParaRPr lang="en-US" sz="1300" dirty="0"/>
          </a:p>
        </p:txBody>
      </p:sp>
      <p:pic>
        <p:nvPicPr>
          <p:cNvPr id="5" name="verdict 1" descr="correct">    </p:cNvPr>
          <p:cNvPicPr>
            <a:picLocks noChangeAspect="1"/>
          </p:cNvPicPr>
          <p:nvPr/>
        </p:nvPicPr>
        <p:blipFill>
          <a:blip r:embed="rId2"/>
          <a:stretch>
            <a:fillRect/>
          </a:stretch>
        </p:blipFill>
        <p:spPr>
          <a:xfrm>
            <a:off x="548640" y="4320540"/>
            <a:ext cx="292608" cy="292608"/>
          </a:xfrm>
          <a:prstGeom prst="rect">
            <a:avLst/>
          </a:prstGeom>
        </p:spPr>
      </p:pic>
      <p:sp>
        <p:nvSpPr>
          <p:cNvPr id="6" name="Text 2"/>
          <p:cNvSpPr txBox="1"/>
          <p:nvPr/>
        </p:nvSpPr>
        <p:spPr>
          <a:xfrm>
            <a:off x="960120" y="4256532"/>
            <a:ext cx="3154680" cy="457200"/>
          </a:xfrm>
          <a:prstGeom prst="rect">
            <a:avLst/>
          </a:prstGeom>
          <a:noFill/>
          <a:ln/>
        </p:spPr>
        <p:txBody>
          <a:bodyPr wrap="square" lIns="0" tIns="0" rIns="0" bIns="0" rtlCol="0" anchor="ctr"/>
          <a:lstStyle/>
          <a:p>
            <a:pPr indent="0" marL="0">
              <a:buNone/>
            </a:pPr>
            <a:r>
              <a:rPr lang="en-US" sz="1400" b="1" dirty="0">
                <a:solidFill>
                  <a:schemeClr val="tx1"/>
                </a:solidFill>
              </a:rPr>
              <a:t>Potholed dirt road: many potholes boxed</a:t>
            </a:r>
            <a:endParaRPr lang="en-US" sz="1400" dirty="0"/>
          </a:p>
        </p:txBody>
      </p:sp>
      <p:sp>
        <p:nvSpPr>
          <p:cNvPr id="7" name="Text 3"/>
          <p:cNvSpPr txBox="1"/>
          <p:nvPr/>
        </p:nvSpPr>
        <p:spPr>
          <a:xfrm>
            <a:off x="960120" y="4732020"/>
            <a:ext cx="3154680" cy="548640"/>
          </a:xfrm>
          <a:prstGeom prst="rect">
            <a:avLst/>
          </a:prstGeom>
          <a:noFill/>
          <a:ln/>
        </p:spPr>
        <p:txBody>
          <a:bodyPr wrap="square" lIns="0" tIns="0" rIns="0" bIns="0" rtlCol="0" anchor="t"/>
          <a:lstStyle/>
          <a:p>
            <a:pPr indent="0" marL="0">
              <a:buNone/>
            </a:pPr>
            <a:r>
              <a:rPr lang="en-US" sz="1200" dirty="0">
                <a:solidFill>
                  <a:schemeClr val="tx2"/>
                </a:solidFill>
              </a:rPr>
              <a:t>Pothole 100% of the time</a:t>
            </a:r>
            <a:endParaRPr lang="en-US" sz="1200" dirty="0"/>
          </a:p>
        </p:txBody>
      </p:sp>
      <p:pic>
        <p:nvPicPr>
          <p:cNvPr id="8" name="video frame 2" descr="Wet dashcam road: alligator crack and potholes">    </p:cNvPr>
          <p:cNvPicPr>
            <a:picLocks noChangeAspect="1"/>
          </p:cNvPicPr>
          <p:nvPr/>
        </p:nvPicPr>
        <p:blipFill>
          <a:blip r:embed="rId3"/>
          <a:srcRect l="0" r="0" t="0" b="0"/>
          <a:stretch/>
        </p:blipFill>
        <p:spPr>
          <a:xfrm>
            <a:off x="4297680" y="1417320"/>
            <a:ext cx="3566160" cy="2674620"/>
          </a:xfrm>
          <a:prstGeom prst="rect">
            <a:avLst/>
          </a:prstGeom>
        </p:spPr>
      </p:pic>
      <p:sp>
        <p:nvSpPr>
          <p:cNvPr id="9" name="Pothole chip"/>
          <p:cNvSpPr txBox="1"/>
          <p:nvPr/>
        </p:nvSpPr>
        <p:spPr>
          <a:xfrm>
            <a:off x="4407408" y="1527048"/>
            <a:ext cx="1143000" cy="365760"/>
          </a:xfrm>
          <a:prstGeom prst="roundRect">
            <a:avLst>
              <a:gd name="adj" fmla="val 20000"/>
            </a:avLst>
          </a:prstGeom>
          <a:solidFill>
            <a:schemeClr val="accent5"/>
          </a:solidFill>
          <a:ln/>
        </p:spPr>
        <p:txBody>
          <a:bodyPr wrap="square" lIns="0" tIns="0" rIns="0" bIns="0" rtlCol="0" anchor="ctr"/>
          <a:lstStyle/>
          <a:p>
            <a:pPr algn="ctr" indent="0" marL="0">
              <a:buNone/>
            </a:pPr>
            <a:r>
              <a:rPr lang="en-US" sz="1300" b="1" dirty="0">
                <a:solidFill>
                  <a:schemeClr val="bg1"/>
                </a:solidFill>
              </a:rPr>
              <a:t>Pothole</a:t>
            </a:r>
            <a:endParaRPr lang="en-US" sz="1300" dirty="0"/>
          </a:p>
        </p:txBody>
      </p:sp>
      <p:pic>
        <p:nvPicPr>
          <p:cNvPr id="10" name="verdict 2" descr="correct">    </p:cNvPr>
          <p:cNvPicPr>
            <a:picLocks noChangeAspect="1"/>
          </p:cNvPicPr>
          <p:nvPr/>
        </p:nvPicPr>
        <p:blipFill>
          <a:blip r:embed="rId4"/>
          <a:stretch>
            <a:fillRect/>
          </a:stretch>
        </p:blipFill>
        <p:spPr>
          <a:xfrm>
            <a:off x="4297680" y="4320540"/>
            <a:ext cx="292608" cy="292608"/>
          </a:xfrm>
          <a:prstGeom prst="rect">
            <a:avLst/>
          </a:prstGeom>
        </p:spPr>
      </p:pic>
      <p:sp>
        <p:nvSpPr>
          <p:cNvPr id="11" name="Text 5"/>
          <p:cNvSpPr txBox="1"/>
          <p:nvPr/>
        </p:nvSpPr>
        <p:spPr>
          <a:xfrm>
            <a:off x="4709160" y="4256532"/>
            <a:ext cx="3154680" cy="457200"/>
          </a:xfrm>
          <a:prstGeom prst="rect">
            <a:avLst/>
          </a:prstGeom>
          <a:noFill/>
          <a:ln/>
        </p:spPr>
        <p:txBody>
          <a:bodyPr wrap="square" lIns="0" tIns="0" rIns="0" bIns="0" rtlCol="0" anchor="ctr"/>
          <a:lstStyle/>
          <a:p>
            <a:pPr indent="0" marL="0">
              <a:buNone/>
            </a:pPr>
            <a:r>
              <a:rPr lang="en-US" sz="1400" b="1" dirty="0">
                <a:solidFill>
                  <a:schemeClr val="tx1"/>
                </a:solidFill>
              </a:rPr>
              <a:t>Wet dashcam road: alligator crack and potholes</a:t>
            </a:r>
            <a:endParaRPr lang="en-US" sz="1400" dirty="0"/>
          </a:p>
        </p:txBody>
      </p:sp>
      <p:sp>
        <p:nvSpPr>
          <p:cNvPr id="12" name="Text 6"/>
          <p:cNvSpPr txBox="1"/>
          <p:nvPr/>
        </p:nvSpPr>
        <p:spPr>
          <a:xfrm>
            <a:off x="4709160" y="4732020"/>
            <a:ext cx="3154680" cy="548640"/>
          </a:xfrm>
          <a:prstGeom prst="rect">
            <a:avLst/>
          </a:prstGeom>
          <a:noFill/>
          <a:ln/>
        </p:spPr>
        <p:txBody>
          <a:bodyPr wrap="square" lIns="0" tIns="0" rIns="0" bIns="0" rtlCol="0" anchor="t"/>
          <a:lstStyle/>
          <a:p>
            <a:pPr indent="0" marL="0">
              <a:buNone/>
            </a:pPr>
            <a:r>
              <a:rPr lang="en-US" sz="1200" dirty="0">
                <a:solidFill>
                  <a:schemeClr val="tx2"/>
                </a:solidFill>
              </a:rPr>
              <a:t>Pothole 57%, Rough 25%, Smooth 14%, Normal 3%</a:t>
            </a:r>
            <a:endParaRPr lang="en-US" sz="1200" dirty="0"/>
          </a:p>
        </p:txBody>
      </p:sp>
      <p:pic>
        <p:nvPicPr>
          <p:cNvPr id="13" name="video frame 3" descr="Close-up asphalt cracks: Rough">    </p:cNvPr>
          <p:cNvPicPr>
            <a:picLocks noChangeAspect="1"/>
          </p:cNvPicPr>
          <p:nvPr/>
        </p:nvPicPr>
        <p:blipFill>
          <a:blip r:embed="rId5"/>
          <a:srcRect l="0" r="0" t="0" b="0"/>
          <a:stretch/>
        </p:blipFill>
        <p:spPr>
          <a:xfrm>
            <a:off x="8046720" y="1417320"/>
            <a:ext cx="3566160" cy="2674620"/>
          </a:xfrm>
          <a:prstGeom prst="rect">
            <a:avLst/>
          </a:prstGeom>
        </p:spPr>
      </p:pic>
      <p:sp>
        <p:nvSpPr>
          <p:cNvPr id="14" name="Rough chip"/>
          <p:cNvSpPr txBox="1"/>
          <p:nvPr/>
        </p:nvSpPr>
        <p:spPr>
          <a:xfrm>
            <a:off x="8156448" y="1527048"/>
            <a:ext cx="1143000" cy="365760"/>
          </a:xfrm>
          <a:prstGeom prst="roundRect">
            <a:avLst>
              <a:gd name="adj" fmla="val 20000"/>
            </a:avLst>
          </a:prstGeom>
          <a:solidFill>
            <a:schemeClr val="accent4"/>
          </a:solidFill>
          <a:ln/>
        </p:spPr>
        <p:txBody>
          <a:bodyPr wrap="square" lIns="0" tIns="0" rIns="0" bIns="0" rtlCol="0" anchor="ctr"/>
          <a:lstStyle/>
          <a:p>
            <a:pPr algn="ctr" indent="0" marL="0">
              <a:buNone/>
            </a:pPr>
            <a:r>
              <a:rPr lang="en-US" sz="1300" b="1" dirty="0">
                <a:solidFill>
                  <a:schemeClr val="bg1"/>
                </a:solidFill>
              </a:rPr>
              <a:t>Rough</a:t>
            </a:r>
            <a:endParaRPr lang="en-US" sz="1300" dirty="0"/>
          </a:p>
        </p:txBody>
      </p:sp>
      <p:pic>
        <p:nvPicPr>
          <p:cNvPr id="15" name="verdict 3" descr="correct">    </p:cNvPr>
          <p:cNvPicPr>
            <a:picLocks noChangeAspect="1"/>
          </p:cNvPicPr>
          <p:nvPr/>
        </p:nvPicPr>
        <p:blipFill>
          <a:blip r:embed="rId6"/>
          <a:stretch>
            <a:fillRect/>
          </a:stretch>
        </p:blipFill>
        <p:spPr>
          <a:xfrm>
            <a:off x="8046720" y="4320540"/>
            <a:ext cx="292608" cy="292608"/>
          </a:xfrm>
          <a:prstGeom prst="rect">
            <a:avLst/>
          </a:prstGeom>
        </p:spPr>
      </p:pic>
      <p:sp>
        <p:nvSpPr>
          <p:cNvPr id="16" name="Text 8"/>
          <p:cNvSpPr txBox="1"/>
          <p:nvPr/>
        </p:nvSpPr>
        <p:spPr>
          <a:xfrm>
            <a:off x="8458200" y="4256532"/>
            <a:ext cx="3154680" cy="457200"/>
          </a:xfrm>
          <a:prstGeom prst="rect">
            <a:avLst/>
          </a:prstGeom>
          <a:noFill/>
          <a:ln/>
        </p:spPr>
        <p:txBody>
          <a:bodyPr wrap="square" lIns="0" tIns="0" rIns="0" bIns="0" rtlCol="0" anchor="ctr"/>
          <a:lstStyle/>
          <a:p>
            <a:pPr indent="0" marL="0">
              <a:buNone/>
            </a:pPr>
            <a:r>
              <a:rPr lang="en-US" sz="1400" b="1" dirty="0">
                <a:solidFill>
                  <a:schemeClr val="tx1"/>
                </a:solidFill>
              </a:rPr>
              <a:t>Close-up asphalt cracks: Rough</a:t>
            </a:r>
            <a:endParaRPr lang="en-US" sz="1400" dirty="0"/>
          </a:p>
        </p:txBody>
      </p:sp>
      <p:sp>
        <p:nvSpPr>
          <p:cNvPr id="17" name="Text 9"/>
          <p:cNvSpPr txBox="1"/>
          <p:nvPr/>
        </p:nvSpPr>
        <p:spPr>
          <a:xfrm>
            <a:off x="8458200" y="4732020"/>
            <a:ext cx="3154680" cy="548640"/>
          </a:xfrm>
          <a:prstGeom prst="rect">
            <a:avLst/>
          </a:prstGeom>
          <a:noFill/>
          <a:ln/>
        </p:spPr>
        <p:txBody>
          <a:bodyPr wrap="square" lIns="0" tIns="0" rIns="0" bIns="0" rtlCol="0" anchor="t"/>
          <a:lstStyle/>
          <a:p>
            <a:pPr indent="0" marL="0">
              <a:buNone/>
            </a:pPr>
            <a:r>
              <a:rPr lang="en-US" sz="1200" dirty="0">
                <a:solidFill>
                  <a:schemeClr val="tx2"/>
                </a:solidFill>
              </a:rPr>
              <a:t>Rough 93%; 2 brief false potholes on a wide crack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What is weak and what is unproven</a:t>
            </a:r>
            <a:endParaRPr lang="en-US" sz="3600" dirty="0"/>
          </a:p>
        </p:txBody>
      </p:sp>
      <p:sp>
        <p:nvSpPr>
          <p:cNvPr id="3" name="Weak card"/>
          <p:cNvSpPr/>
          <p:nvPr/>
        </p:nvSpPr>
        <p:spPr>
          <a:xfrm>
            <a:off x="548640" y="1417320"/>
            <a:ext cx="5394960" cy="4754880"/>
          </a:xfrm>
          <a:prstGeom prst="roundRect">
            <a:avLst>
              <a:gd name="adj" fmla="val 1923"/>
            </a:avLst>
          </a:prstGeom>
          <a:solidFill>
            <a:schemeClr val="bg2"/>
          </a:solidFill>
          <a:ln/>
        </p:spPr>
      </p:sp>
      <p:sp>
        <p:nvSpPr>
          <p:cNvPr id="4" name="Text 2"/>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000" b="1" dirty="0">
                <a:solidFill>
                  <a:schemeClr val="accent5"/>
                </a:solidFill>
              </a:rPr>
              <a:t>Weak</a:t>
            </a:r>
            <a:endParaRPr lang="en-US" sz="2000" dirty="0"/>
          </a:p>
        </p:txBody>
      </p:sp>
      <p:sp>
        <p:nvSpPr>
          <p:cNvPr id="5" name="Normal vs Rough circle"/>
          <p:cNvSpPr/>
          <p:nvPr/>
        </p:nvSpPr>
        <p:spPr>
          <a:xfrm>
            <a:off x="822960" y="2240280"/>
            <a:ext cx="640080" cy="640080"/>
          </a:xfrm>
          <a:prstGeom prst="ellipse">
            <a:avLst/>
          </a:prstGeom>
          <a:solidFill>
            <a:schemeClr val="accent1"/>
          </a:solidFill>
          <a:ln/>
        </p:spPr>
      </p:sp>
      <p:pic>
        <p:nvPicPr>
          <p:cNvPr id="6" name="Normal vs Rough icon" descr="Normal vs Rough">    </p:cNvPr>
          <p:cNvPicPr>
            <a:picLocks noChangeAspect="1"/>
          </p:cNvPicPr>
          <p:nvPr/>
        </p:nvPicPr>
        <p:blipFill>
          <a:blip r:embed="rId1"/>
          <a:stretch>
            <a:fillRect/>
          </a:stretch>
        </p:blipFill>
        <p:spPr>
          <a:xfrm>
            <a:off x="976579" y="2393899"/>
            <a:ext cx="332842" cy="332842"/>
          </a:xfrm>
          <a:prstGeom prst="rect">
            <a:avLst/>
          </a:prstGeom>
        </p:spPr>
      </p:pic>
      <p:sp>
        <p:nvSpPr>
          <p:cNvPr id="7" name="Text 4"/>
          <p:cNvSpPr txBox="1"/>
          <p:nvPr/>
        </p:nvSpPr>
        <p:spPr>
          <a:xfrm>
            <a:off x="1645920" y="2194560"/>
            <a:ext cx="4114800" cy="365760"/>
          </a:xfrm>
          <a:prstGeom prst="rect">
            <a:avLst/>
          </a:prstGeom>
          <a:noFill/>
          <a:ln/>
        </p:spPr>
        <p:txBody>
          <a:bodyPr wrap="square" lIns="0" tIns="0" rIns="0" bIns="0" rtlCol="0" anchor="ctr"/>
          <a:lstStyle/>
          <a:p>
            <a:pPr indent="0" marL="0">
              <a:buNone/>
            </a:pPr>
            <a:r>
              <a:rPr lang="en-US" sz="1600" b="1" dirty="0">
                <a:solidFill>
                  <a:schemeClr val="tx1"/>
                </a:solidFill>
              </a:rPr>
              <a:t>Normal vs Rough</a:t>
            </a:r>
            <a:endParaRPr lang="en-US" sz="1600" dirty="0"/>
          </a:p>
        </p:txBody>
      </p:sp>
      <p:sp>
        <p:nvSpPr>
          <p:cNvPr id="8" name="Text 5"/>
          <p:cNvSpPr txBox="1"/>
          <p:nvPr/>
        </p:nvSpPr>
        <p:spPr>
          <a:xfrm>
            <a:off x="1645920" y="2578608"/>
            <a:ext cx="4114800" cy="685800"/>
          </a:xfrm>
          <a:prstGeom prst="rect">
            <a:avLst/>
          </a:prstGeom>
          <a:noFill/>
          <a:ln/>
        </p:spPr>
        <p:txBody>
          <a:bodyPr wrap="square" lIns="0" tIns="0" rIns="0" bIns="0" rtlCol="0" anchor="t"/>
          <a:lstStyle/>
          <a:p>
            <a:pPr indent="0" marL="0">
              <a:buNone/>
            </a:pPr>
            <a:r>
              <a:rPr lang="en-US" sz="1400" dirty="0">
                <a:solidFill>
                  <a:schemeClr val="tx2"/>
                </a:solidFill>
              </a:rPr>
              <a:t>71% of Normal frames correct (was 56%); the line is crack area, not measured roughness</a:t>
            </a:r>
            <a:endParaRPr lang="en-US" sz="1400" dirty="0"/>
          </a:p>
        </p:txBody>
      </p:sp>
      <p:sp>
        <p:nvSpPr>
          <p:cNvPr id="9" name="False potholes circle"/>
          <p:cNvSpPr/>
          <p:nvPr/>
        </p:nvSpPr>
        <p:spPr>
          <a:xfrm>
            <a:off x="822960" y="3520440"/>
            <a:ext cx="640080" cy="640080"/>
          </a:xfrm>
          <a:prstGeom prst="ellipse">
            <a:avLst/>
          </a:prstGeom>
          <a:solidFill>
            <a:schemeClr val="accent1"/>
          </a:solidFill>
          <a:ln/>
        </p:spPr>
      </p:sp>
      <p:pic>
        <p:nvPicPr>
          <p:cNvPr id="10" name="False potholes icon" descr="False potholes">    </p:cNvPr>
          <p:cNvPicPr>
            <a:picLocks noChangeAspect="1"/>
          </p:cNvPicPr>
          <p:nvPr/>
        </p:nvPicPr>
        <p:blipFill>
          <a:blip r:embed="rId2"/>
          <a:stretch>
            <a:fillRect/>
          </a:stretch>
        </p:blipFill>
        <p:spPr>
          <a:xfrm>
            <a:off x="976579" y="3674059"/>
            <a:ext cx="332842" cy="332842"/>
          </a:xfrm>
          <a:prstGeom prst="rect">
            <a:avLst/>
          </a:prstGeom>
        </p:spPr>
      </p:pic>
      <p:sp>
        <p:nvSpPr>
          <p:cNvPr id="11" name="Text 7"/>
          <p:cNvSpPr txBox="1"/>
          <p:nvPr/>
        </p:nvSpPr>
        <p:spPr>
          <a:xfrm>
            <a:off x="1645920" y="3474720"/>
            <a:ext cx="4114800" cy="365760"/>
          </a:xfrm>
          <a:prstGeom prst="rect">
            <a:avLst/>
          </a:prstGeom>
          <a:noFill/>
          <a:ln/>
        </p:spPr>
        <p:txBody>
          <a:bodyPr wrap="square" lIns="0" tIns="0" rIns="0" bIns="0" rtlCol="0" anchor="ctr"/>
          <a:lstStyle/>
          <a:p>
            <a:pPr indent="0" marL="0">
              <a:buNone/>
            </a:pPr>
            <a:r>
              <a:rPr lang="en-US" sz="1600" b="1" dirty="0">
                <a:solidFill>
                  <a:schemeClr val="tx1"/>
                </a:solidFill>
              </a:rPr>
              <a:t>False potholes</a:t>
            </a:r>
            <a:endParaRPr lang="en-US" sz="1600" dirty="0"/>
          </a:p>
        </p:txBody>
      </p:sp>
      <p:sp>
        <p:nvSpPr>
          <p:cNvPr id="12" name="Text 8"/>
          <p:cNvSpPr txBox="1"/>
          <p:nvPr/>
        </p:nvSpPr>
        <p:spPr>
          <a:xfrm>
            <a:off x="1645920" y="3858768"/>
            <a:ext cx="4114800" cy="685800"/>
          </a:xfrm>
          <a:prstGeom prst="rect">
            <a:avLst/>
          </a:prstGeom>
          <a:noFill/>
          <a:ln/>
        </p:spPr>
        <p:txBody>
          <a:bodyPr wrap="square" lIns="0" tIns="0" rIns="0" bIns="0" rtlCol="0" anchor="t"/>
          <a:lstStyle/>
          <a:p>
            <a:pPr indent="0" marL="0">
              <a:buNone/>
            </a:pPr>
            <a:r>
              <a:rPr lang="en-US" sz="1400" dirty="0">
                <a:solidFill>
                  <a:schemeClr val="tx2"/>
                </a:solidFill>
              </a:rPr>
              <a:t>On wide cracks, from the low 0.15 threshold</a:t>
            </a:r>
            <a:endParaRPr lang="en-US" sz="1400" dirty="0"/>
          </a:p>
        </p:txBody>
      </p:sp>
      <p:sp>
        <p:nvSpPr>
          <p:cNvPr id="13" name="Computed ground truth circle"/>
          <p:cNvSpPr/>
          <p:nvPr/>
        </p:nvSpPr>
        <p:spPr>
          <a:xfrm>
            <a:off x="822960" y="4800600"/>
            <a:ext cx="640080" cy="640080"/>
          </a:xfrm>
          <a:prstGeom prst="ellipse">
            <a:avLst/>
          </a:prstGeom>
          <a:solidFill>
            <a:schemeClr val="accent1"/>
          </a:solidFill>
          <a:ln/>
        </p:spPr>
      </p:sp>
      <p:pic>
        <p:nvPicPr>
          <p:cNvPr id="14" name="Computed ground truth icon" descr="Computed ground truth">    </p:cNvPr>
          <p:cNvPicPr>
            <a:picLocks noChangeAspect="1"/>
          </p:cNvPicPr>
          <p:nvPr/>
        </p:nvPicPr>
        <p:blipFill>
          <a:blip r:embed="rId3"/>
          <a:stretch>
            <a:fillRect/>
          </a:stretch>
        </p:blipFill>
        <p:spPr>
          <a:xfrm>
            <a:off x="976579" y="4954219"/>
            <a:ext cx="332842" cy="332842"/>
          </a:xfrm>
          <a:prstGeom prst="rect">
            <a:avLst/>
          </a:prstGeom>
        </p:spPr>
      </p:pic>
      <p:sp>
        <p:nvSpPr>
          <p:cNvPr id="15" name="Text 10"/>
          <p:cNvSpPr txBox="1"/>
          <p:nvPr/>
        </p:nvSpPr>
        <p:spPr>
          <a:xfrm>
            <a:off x="1645920" y="4754880"/>
            <a:ext cx="4114800" cy="365760"/>
          </a:xfrm>
          <a:prstGeom prst="rect">
            <a:avLst/>
          </a:prstGeom>
          <a:noFill/>
          <a:ln/>
        </p:spPr>
        <p:txBody>
          <a:bodyPr wrap="square" lIns="0" tIns="0" rIns="0" bIns="0" rtlCol="0" anchor="ctr"/>
          <a:lstStyle/>
          <a:p>
            <a:pPr indent="0" marL="0">
              <a:buNone/>
            </a:pPr>
            <a:r>
              <a:rPr lang="en-US" sz="1600" b="1" dirty="0">
                <a:solidFill>
                  <a:schemeClr val="tx1"/>
                </a:solidFill>
              </a:rPr>
              <a:t>Computed ground truth</a:t>
            </a:r>
            <a:endParaRPr lang="en-US" sz="1600" dirty="0"/>
          </a:p>
        </p:txBody>
      </p:sp>
      <p:sp>
        <p:nvSpPr>
          <p:cNvPr id="16" name="Text 11"/>
          <p:cNvSpPr txBox="1"/>
          <p:nvPr/>
        </p:nvSpPr>
        <p:spPr>
          <a:xfrm>
            <a:off x="1645920" y="5138928"/>
            <a:ext cx="4114800" cy="685800"/>
          </a:xfrm>
          <a:prstGeom prst="rect">
            <a:avLst/>
          </a:prstGeom>
          <a:noFill/>
          <a:ln/>
        </p:spPr>
        <p:txBody>
          <a:bodyPr wrap="square" lIns="0" tIns="0" rIns="0" bIns="0" rtlCol="0" anchor="t"/>
          <a:lstStyle/>
          <a:p>
            <a:pPr indent="0" marL="0">
              <a:buNone/>
            </a:pPr>
            <a:r>
              <a:rPr lang="en-US" sz="1400" dirty="0">
                <a:solidFill>
                  <a:schemeClr val="tx2"/>
                </a:solidFill>
              </a:rPr>
              <a:t>Classes derived from boxes; RDD2022 misses some defects</a:t>
            </a:r>
            <a:endParaRPr lang="en-US" sz="1400" dirty="0"/>
          </a:p>
        </p:txBody>
      </p:sp>
      <p:sp>
        <p:nvSpPr>
          <p:cNvPr id="17" name="Not proven yet card"/>
          <p:cNvSpPr/>
          <p:nvPr/>
        </p:nvSpPr>
        <p:spPr>
          <a:xfrm>
            <a:off x="6217920" y="1417320"/>
            <a:ext cx="5394960" cy="4754880"/>
          </a:xfrm>
          <a:prstGeom prst="roundRect">
            <a:avLst>
              <a:gd name="adj" fmla="val 1923"/>
            </a:avLst>
          </a:prstGeom>
          <a:solidFill>
            <a:schemeClr val="bg2"/>
          </a:solidFill>
          <a:ln/>
        </p:spPr>
      </p:sp>
      <p:sp>
        <p:nvSpPr>
          <p:cNvPr id="18" name="Text 13"/>
          <p:cNvSpPr txBox="1"/>
          <p:nvPr/>
        </p:nvSpPr>
        <p:spPr>
          <a:xfrm>
            <a:off x="6492240" y="1554480"/>
            <a:ext cx="4846320" cy="457200"/>
          </a:xfrm>
          <a:prstGeom prst="rect">
            <a:avLst/>
          </a:prstGeom>
          <a:noFill/>
          <a:ln/>
        </p:spPr>
        <p:txBody>
          <a:bodyPr wrap="square" lIns="0" tIns="0" rIns="0" bIns="0" rtlCol="0" anchor="ctr"/>
          <a:lstStyle/>
          <a:p>
            <a:pPr indent="0" marL="0">
              <a:buNone/>
            </a:pPr>
            <a:r>
              <a:rPr lang="en-US" sz="2000" b="1" dirty="0">
                <a:solidFill>
                  <a:schemeClr val="tx2"/>
                </a:solidFill>
              </a:rPr>
              <a:t>Not proven yet</a:t>
            </a:r>
            <a:endParaRPr lang="en-US" sz="2000" dirty="0"/>
          </a:p>
        </p:txBody>
      </p:sp>
      <p:sp>
        <p:nvSpPr>
          <p:cNvPr id="19" name="Real time on Jetson circle"/>
          <p:cNvSpPr/>
          <p:nvPr/>
        </p:nvSpPr>
        <p:spPr>
          <a:xfrm>
            <a:off x="6492240" y="2240280"/>
            <a:ext cx="640080" cy="640080"/>
          </a:xfrm>
          <a:prstGeom prst="ellipse">
            <a:avLst/>
          </a:prstGeom>
          <a:solidFill>
            <a:schemeClr val="accent1"/>
          </a:solidFill>
          <a:ln/>
        </p:spPr>
      </p:sp>
      <p:pic>
        <p:nvPicPr>
          <p:cNvPr id="20" name="Real time on Jetson icon" descr="Real time on Jetson">    </p:cNvPr>
          <p:cNvPicPr>
            <a:picLocks noChangeAspect="1"/>
          </p:cNvPicPr>
          <p:nvPr/>
        </p:nvPicPr>
        <p:blipFill>
          <a:blip r:embed="rId4"/>
          <a:stretch>
            <a:fillRect/>
          </a:stretch>
        </p:blipFill>
        <p:spPr>
          <a:xfrm>
            <a:off x="6645859" y="2393899"/>
            <a:ext cx="332842" cy="332842"/>
          </a:xfrm>
          <a:prstGeom prst="rect">
            <a:avLst/>
          </a:prstGeom>
        </p:spPr>
      </p:pic>
      <p:sp>
        <p:nvSpPr>
          <p:cNvPr id="21" name="Text 15"/>
          <p:cNvSpPr txBox="1"/>
          <p:nvPr/>
        </p:nvSpPr>
        <p:spPr>
          <a:xfrm>
            <a:off x="7315200" y="2194560"/>
            <a:ext cx="4114800" cy="365760"/>
          </a:xfrm>
          <a:prstGeom prst="rect">
            <a:avLst/>
          </a:prstGeom>
          <a:noFill/>
          <a:ln/>
        </p:spPr>
        <p:txBody>
          <a:bodyPr wrap="square" lIns="0" tIns="0" rIns="0" bIns="0" rtlCol="0" anchor="ctr"/>
          <a:lstStyle/>
          <a:p>
            <a:pPr indent="0" marL="0">
              <a:buNone/>
            </a:pPr>
            <a:r>
              <a:rPr lang="en-US" sz="1600" b="1" dirty="0">
                <a:solidFill>
                  <a:schemeClr val="tx1"/>
                </a:solidFill>
              </a:rPr>
              <a:t>Real time on Jetson</a:t>
            </a:r>
            <a:endParaRPr lang="en-US" sz="1600" dirty="0"/>
          </a:p>
        </p:txBody>
      </p:sp>
      <p:sp>
        <p:nvSpPr>
          <p:cNvPr id="22" name="Text 16"/>
          <p:cNvSpPr txBox="1"/>
          <p:nvPr/>
        </p:nvSpPr>
        <p:spPr>
          <a:xfrm>
            <a:off x="7315200" y="2578608"/>
            <a:ext cx="4114800" cy="685800"/>
          </a:xfrm>
          <a:prstGeom prst="rect">
            <a:avLst/>
          </a:prstGeom>
          <a:noFill/>
          <a:ln/>
        </p:spPr>
        <p:txBody>
          <a:bodyPr wrap="square" lIns="0" tIns="0" rIns="0" bIns="0" rtlCol="0" anchor="t"/>
          <a:lstStyle/>
          <a:p>
            <a:pPr indent="0" marL="0">
              <a:buNone/>
            </a:pPr>
            <a:r>
              <a:rPr lang="en-US" sz="1400" dirty="0">
                <a:solidFill>
                  <a:schemeClr val="tx2"/>
                </a:solidFill>
              </a:rPr>
              <a:t>No TensorRT export or FPS measurement on the Orin</a:t>
            </a:r>
            <a:endParaRPr lang="en-US" sz="1400" dirty="0"/>
          </a:p>
        </p:txBody>
      </p:sp>
      <p:sp>
        <p:nvSpPr>
          <p:cNvPr id="23" name="Look-ahead distance circle"/>
          <p:cNvSpPr/>
          <p:nvPr/>
        </p:nvSpPr>
        <p:spPr>
          <a:xfrm>
            <a:off x="6492240" y="3520440"/>
            <a:ext cx="640080" cy="640080"/>
          </a:xfrm>
          <a:prstGeom prst="ellipse">
            <a:avLst/>
          </a:prstGeom>
          <a:solidFill>
            <a:schemeClr val="accent1"/>
          </a:solidFill>
          <a:ln/>
        </p:spPr>
      </p:sp>
      <p:pic>
        <p:nvPicPr>
          <p:cNvPr id="24" name="Look-ahead distance icon" descr="Look-ahead distance">    </p:cNvPr>
          <p:cNvPicPr>
            <a:picLocks noChangeAspect="1"/>
          </p:cNvPicPr>
          <p:nvPr/>
        </p:nvPicPr>
        <p:blipFill>
          <a:blip r:embed="rId5"/>
          <a:stretch>
            <a:fillRect/>
          </a:stretch>
        </p:blipFill>
        <p:spPr>
          <a:xfrm>
            <a:off x="6645859" y="3674059"/>
            <a:ext cx="332842" cy="332842"/>
          </a:xfrm>
          <a:prstGeom prst="rect">
            <a:avLst/>
          </a:prstGeom>
        </p:spPr>
      </p:pic>
      <p:sp>
        <p:nvSpPr>
          <p:cNvPr id="25" name="Text 18"/>
          <p:cNvSpPr txBox="1"/>
          <p:nvPr/>
        </p:nvSpPr>
        <p:spPr>
          <a:xfrm>
            <a:off x="7315200" y="3474720"/>
            <a:ext cx="4114800" cy="365760"/>
          </a:xfrm>
          <a:prstGeom prst="rect">
            <a:avLst/>
          </a:prstGeom>
          <a:noFill/>
          <a:ln/>
        </p:spPr>
        <p:txBody>
          <a:bodyPr wrap="square" lIns="0" tIns="0" rIns="0" bIns="0" rtlCol="0" anchor="ctr"/>
          <a:lstStyle/>
          <a:p>
            <a:pPr indent="0" marL="0">
              <a:buNone/>
            </a:pPr>
            <a:r>
              <a:rPr lang="en-US" sz="1600" b="1" dirty="0">
                <a:solidFill>
                  <a:schemeClr val="tx1"/>
                </a:solidFill>
              </a:rPr>
              <a:t>Look-ahead distance</a:t>
            </a:r>
            <a:endParaRPr lang="en-US" sz="1600" dirty="0"/>
          </a:p>
        </p:txBody>
      </p:sp>
      <p:sp>
        <p:nvSpPr>
          <p:cNvPr id="26" name="Text 19"/>
          <p:cNvSpPr txBox="1"/>
          <p:nvPr/>
        </p:nvSpPr>
        <p:spPr>
          <a:xfrm>
            <a:off x="7315200" y="3858768"/>
            <a:ext cx="4114800" cy="685800"/>
          </a:xfrm>
          <a:prstGeom prst="rect">
            <a:avLst/>
          </a:prstGeom>
          <a:noFill/>
          <a:ln/>
        </p:spPr>
        <p:txBody>
          <a:bodyPr wrap="square" lIns="0" tIns="0" rIns="0" bIns="0" rtlCol="0" anchor="t"/>
          <a:lstStyle/>
          <a:p>
            <a:pPr indent="0" marL="0">
              <a:buNone/>
            </a:pPr>
            <a:r>
              <a:rPr lang="en-US" sz="1400" dirty="0">
                <a:solidFill>
                  <a:schemeClr val="tx2"/>
                </a:solidFill>
              </a:rPr>
              <a:t>Small, distant potholes are the hardest boxes; reaction time unknown</a:t>
            </a:r>
            <a:endParaRPr lang="en-US" sz="1400" dirty="0"/>
          </a:p>
        </p:txBody>
      </p:sp>
      <p:sp>
        <p:nvSpPr>
          <p:cNvPr id="27" name="Own vehicle camera circle"/>
          <p:cNvSpPr/>
          <p:nvPr/>
        </p:nvSpPr>
        <p:spPr>
          <a:xfrm>
            <a:off x="6492240" y="4800600"/>
            <a:ext cx="640080" cy="640080"/>
          </a:xfrm>
          <a:prstGeom prst="ellipse">
            <a:avLst/>
          </a:prstGeom>
          <a:solidFill>
            <a:schemeClr val="accent1"/>
          </a:solidFill>
          <a:ln/>
        </p:spPr>
      </p:sp>
      <p:pic>
        <p:nvPicPr>
          <p:cNvPr id="28" name="Own vehicle camera icon" descr="Own vehicle camera">    </p:cNvPr>
          <p:cNvPicPr>
            <a:picLocks noChangeAspect="1"/>
          </p:cNvPicPr>
          <p:nvPr/>
        </p:nvPicPr>
        <p:blipFill>
          <a:blip r:embed="rId6"/>
          <a:stretch>
            <a:fillRect/>
          </a:stretch>
        </p:blipFill>
        <p:spPr>
          <a:xfrm>
            <a:off x="6645859" y="4954219"/>
            <a:ext cx="332842" cy="332842"/>
          </a:xfrm>
          <a:prstGeom prst="rect">
            <a:avLst/>
          </a:prstGeom>
        </p:spPr>
      </p:pic>
      <p:sp>
        <p:nvSpPr>
          <p:cNvPr id="29" name="Text 21"/>
          <p:cNvSpPr txBox="1"/>
          <p:nvPr/>
        </p:nvSpPr>
        <p:spPr>
          <a:xfrm>
            <a:off x="7315200" y="4754880"/>
            <a:ext cx="4114800" cy="365760"/>
          </a:xfrm>
          <a:prstGeom prst="rect">
            <a:avLst/>
          </a:prstGeom>
          <a:noFill/>
          <a:ln/>
        </p:spPr>
        <p:txBody>
          <a:bodyPr wrap="square" lIns="0" tIns="0" rIns="0" bIns="0" rtlCol="0" anchor="ctr"/>
          <a:lstStyle/>
          <a:p>
            <a:pPr indent="0" marL="0">
              <a:buNone/>
            </a:pPr>
            <a:r>
              <a:rPr lang="en-US" sz="1600" b="1" dirty="0">
                <a:solidFill>
                  <a:schemeClr val="tx1"/>
                </a:solidFill>
              </a:rPr>
              <a:t>Own vehicle camera</a:t>
            </a:r>
            <a:endParaRPr lang="en-US" sz="1600" dirty="0"/>
          </a:p>
        </p:txBody>
      </p:sp>
      <p:sp>
        <p:nvSpPr>
          <p:cNvPr id="30" name="Text 22"/>
          <p:cNvSpPr txBox="1"/>
          <p:nvPr/>
        </p:nvSpPr>
        <p:spPr>
          <a:xfrm>
            <a:off x="7315200" y="5138928"/>
            <a:ext cx="4114800" cy="685800"/>
          </a:xfrm>
          <a:prstGeom prst="rect">
            <a:avLst/>
          </a:prstGeom>
          <a:noFill/>
          <a:ln/>
        </p:spPr>
        <p:txBody>
          <a:bodyPr wrap="square" lIns="0" tIns="0" rIns="0" bIns="0" rtlCol="0" anchor="t"/>
          <a:lstStyle/>
          <a:p>
            <a:pPr indent="0" marL="0">
              <a:buNone/>
            </a:pPr>
            <a:r>
              <a:rPr lang="en-US" sz="1400" dirty="0">
                <a:solidFill>
                  <a:schemeClr val="tx2"/>
                </a:solidFill>
              </a:rPr>
              <a:t>Only one test video is dashcam; none from our vehicle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Next steps</a:t>
            </a:r>
            <a:endParaRPr lang="en-US" sz="3600" dirty="0"/>
          </a:p>
        </p:txBody>
      </p:sp>
      <p:sp>
        <p:nvSpPr>
          <p:cNvPr id="3" name="step 1"/>
          <p:cNvSpPr txBox="1"/>
          <p:nvPr/>
        </p:nvSpPr>
        <p:spPr>
          <a:xfrm>
            <a:off x="548640" y="1463040"/>
            <a:ext cx="685800" cy="68580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1</a:t>
            </a:r>
            <a:endParaRPr lang="en-US" sz="2400" dirty="0"/>
          </a:p>
        </p:txBody>
      </p:sp>
      <p:sp>
        <p:nvSpPr>
          <p:cNvPr id="4" name="Text 2"/>
          <p:cNvSpPr txBox="1"/>
          <p:nvPr/>
        </p:nvSpPr>
        <p:spPr>
          <a:xfrm>
            <a:off x="1508760" y="1417320"/>
            <a:ext cx="10058400" cy="411480"/>
          </a:xfrm>
          <a:prstGeom prst="rect">
            <a:avLst/>
          </a:prstGeom>
          <a:noFill/>
          <a:ln/>
        </p:spPr>
        <p:txBody>
          <a:bodyPr wrap="square" lIns="0" tIns="0" rIns="0" bIns="0" rtlCol="0" anchor="ctr"/>
          <a:lstStyle/>
          <a:p>
            <a:pPr indent="0" marL="0">
              <a:buNone/>
            </a:pPr>
            <a:r>
              <a:rPr lang="en-US" sz="2000" b="1" dirty="0">
                <a:solidFill>
                  <a:schemeClr val="bg1"/>
                </a:solidFill>
              </a:rPr>
              <a:t>Record dashcam video on local roads</a:t>
            </a:r>
            <a:endParaRPr lang="en-US" sz="2000" dirty="0"/>
          </a:p>
        </p:txBody>
      </p:sp>
      <p:sp>
        <p:nvSpPr>
          <p:cNvPr id="5" name="Text 3"/>
          <p:cNvSpPr txBox="1"/>
          <p:nvPr/>
        </p:nvSpPr>
        <p:spPr>
          <a:xfrm>
            <a:off x="1508760" y="1847088"/>
            <a:ext cx="10058400" cy="457200"/>
          </a:xfrm>
          <a:prstGeom prst="rect">
            <a:avLst/>
          </a:prstGeom>
          <a:noFill/>
          <a:ln/>
        </p:spPr>
        <p:txBody>
          <a:bodyPr wrap="square" lIns="0" tIns="0" rIns="0" bIns="0" rtlCol="0" anchor="t"/>
          <a:lstStyle/>
          <a:p>
            <a:pPr indent="0" marL="0">
              <a:buNone/>
            </a:pPr>
            <a:r>
              <a:rPr lang="en-US" sz="1500" dirty="0">
                <a:solidFill>
                  <a:schemeClr val="accent6"/>
                </a:solidFill>
              </a:rPr>
              <a:t>Camera where it will sit on the vehicle; note when each defect is hit. Tests look-ahead and real-world accuracy.</a:t>
            </a:r>
            <a:endParaRPr lang="en-US" sz="1500" dirty="0"/>
          </a:p>
        </p:txBody>
      </p:sp>
      <p:sp>
        <p:nvSpPr>
          <p:cNvPr id="6" name="step 2"/>
          <p:cNvSpPr txBox="1"/>
          <p:nvPr/>
        </p:nvSpPr>
        <p:spPr>
          <a:xfrm>
            <a:off x="548640" y="2651760"/>
            <a:ext cx="685800" cy="68580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2</a:t>
            </a:r>
            <a:endParaRPr lang="en-US" sz="2400" dirty="0"/>
          </a:p>
        </p:txBody>
      </p:sp>
      <p:sp>
        <p:nvSpPr>
          <p:cNvPr id="7" name="Text 5"/>
          <p:cNvSpPr txBox="1"/>
          <p:nvPr/>
        </p:nvSpPr>
        <p:spPr>
          <a:xfrm>
            <a:off x="1508760" y="2606040"/>
            <a:ext cx="10058400" cy="411480"/>
          </a:xfrm>
          <a:prstGeom prst="rect">
            <a:avLst/>
          </a:prstGeom>
          <a:noFill/>
          <a:ln/>
        </p:spPr>
        <p:txBody>
          <a:bodyPr wrap="square" lIns="0" tIns="0" rIns="0" bIns="0" rtlCol="0" anchor="ctr"/>
          <a:lstStyle/>
          <a:p>
            <a:pPr indent="0" marL="0">
              <a:buNone/>
            </a:pPr>
            <a:r>
              <a:rPr lang="en-US" sz="2000" b="1" dirty="0">
                <a:solidFill>
                  <a:schemeClr val="bg1"/>
                </a:solidFill>
              </a:rPr>
              <a:t>Export to TensorRT and measure FPS</a:t>
            </a:r>
            <a:endParaRPr lang="en-US" sz="2000" dirty="0"/>
          </a:p>
        </p:txBody>
      </p:sp>
      <p:sp>
        <p:nvSpPr>
          <p:cNvPr id="8" name="Text 6"/>
          <p:cNvSpPr txBox="1"/>
          <p:nvPr/>
        </p:nvSpPr>
        <p:spPr>
          <a:xfrm>
            <a:off x="1508760" y="3035808"/>
            <a:ext cx="10058400" cy="457200"/>
          </a:xfrm>
          <a:prstGeom prst="rect">
            <a:avLst/>
          </a:prstGeom>
          <a:noFill/>
          <a:ln/>
        </p:spPr>
        <p:txBody>
          <a:bodyPr wrap="square" lIns="0" tIns="0" rIns="0" bIns="0" rtlCol="0" anchor="t"/>
          <a:lstStyle/>
          <a:p>
            <a:pPr indent="0" marL="0">
              <a:buNone/>
            </a:pPr>
            <a:r>
              <a:rPr lang="en-US" sz="1500" dirty="0">
                <a:solidFill>
                  <a:schemeClr val="accent6"/>
                </a:solidFill>
              </a:rPr>
              <a:t>On the Jetson Orin, to confirm real-time operation.</a:t>
            </a:r>
            <a:endParaRPr lang="en-US" sz="1500" dirty="0"/>
          </a:p>
        </p:txBody>
      </p:sp>
      <p:sp>
        <p:nvSpPr>
          <p:cNvPr id="9" name="step 3"/>
          <p:cNvSpPr txBox="1"/>
          <p:nvPr/>
        </p:nvSpPr>
        <p:spPr>
          <a:xfrm>
            <a:off x="548640" y="3840480"/>
            <a:ext cx="685800" cy="68580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3</a:t>
            </a:r>
            <a:endParaRPr lang="en-US" sz="2400" dirty="0"/>
          </a:p>
        </p:txBody>
      </p:sp>
      <p:sp>
        <p:nvSpPr>
          <p:cNvPr id="10" name="Text 8"/>
          <p:cNvSpPr txBox="1"/>
          <p:nvPr/>
        </p:nvSpPr>
        <p:spPr>
          <a:xfrm>
            <a:off x="1508760" y="3794760"/>
            <a:ext cx="10058400" cy="411480"/>
          </a:xfrm>
          <a:prstGeom prst="rect">
            <a:avLst/>
          </a:prstGeom>
          <a:noFill/>
          <a:ln/>
        </p:spPr>
        <p:txBody>
          <a:bodyPr wrap="square" lIns="0" tIns="0" rIns="0" bIns="0" rtlCol="0" anchor="ctr"/>
          <a:lstStyle/>
          <a:p>
            <a:pPr indent="0" marL="0">
              <a:buNone/>
            </a:pPr>
            <a:r>
              <a:rPr lang="en-US" sz="2000" b="1" dirty="0">
                <a:solidFill>
                  <a:schemeClr val="bg1"/>
                </a:solidFill>
              </a:rPr>
              <a:t>Recalibrate Normal vs Rough</a:t>
            </a:r>
            <a:endParaRPr lang="en-US" sz="2000" dirty="0"/>
          </a:p>
        </p:txBody>
      </p:sp>
      <p:sp>
        <p:nvSpPr>
          <p:cNvPr id="11" name="Text 9"/>
          <p:cNvSpPr txBox="1"/>
          <p:nvPr/>
        </p:nvSpPr>
        <p:spPr>
          <a:xfrm>
            <a:off x="1508760" y="4224528"/>
            <a:ext cx="10058400" cy="457200"/>
          </a:xfrm>
          <a:prstGeom prst="rect">
            <a:avLst/>
          </a:prstGeom>
          <a:noFill/>
          <a:ln/>
        </p:spPr>
        <p:txBody>
          <a:bodyPr wrap="square" lIns="0" tIns="0" rIns="0" bIns="0" rtlCol="0" anchor="t"/>
          <a:lstStyle/>
          <a:p>
            <a:pPr indent="0" marL="0">
              <a:buNone/>
            </a:pPr>
            <a:r>
              <a:rPr lang="en-US" sz="1500" dirty="0">
                <a:solidFill>
                  <a:schemeClr val="accent6"/>
                </a:solidFill>
              </a:rPr>
              <a:t>Use accelerometer data from the Quanser rig or a phone in the car.</a:t>
            </a:r>
            <a:endParaRPr lang="en-US" sz="1500" dirty="0"/>
          </a:p>
        </p:txBody>
      </p:sp>
      <p:sp>
        <p:nvSpPr>
          <p:cNvPr id="12" name="step 4"/>
          <p:cNvSpPr txBox="1"/>
          <p:nvPr/>
        </p:nvSpPr>
        <p:spPr>
          <a:xfrm>
            <a:off x="548640" y="5029200"/>
            <a:ext cx="685800" cy="68580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4</a:t>
            </a:r>
            <a:endParaRPr lang="en-US" sz="2400" dirty="0"/>
          </a:p>
        </p:txBody>
      </p:sp>
      <p:sp>
        <p:nvSpPr>
          <p:cNvPr id="13" name="Text 11"/>
          <p:cNvSpPr txBox="1"/>
          <p:nvPr/>
        </p:nvSpPr>
        <p:spPr>
          <a:xfrm>
            <a:off x="1508760" y="4983480"/>
            <a:ext cx="10058400" cy="411480"/>
          </a:xfrm>
          <a:prstGeom prst="rect">
            <a:avLst/>
          </a:prstGeom>
          <a:noFill/>
          <a:ln/>
        </p:spPr>
        <p:txBody>
          <a:bodyPr wrap="square" lIns="0" tIns="0" rIns="0" bIns="0" rtlCol="0" anchor="ctr"/>
          <a:lstStyle/>
          <a:p>
            <a:pPr indent="0" marL="0">
              <a:buNone/>
            </a:pPr>
            <a:r>
              <a:rPr lang="en-US" sz="2000" b="1" dirty="0">
                <a:solidFill>
                  <a:schemeClr val="bg1"/>
                </a:solidFill>
              </a:rPr>
              <a:t>Connect RSI to the STSMC scheduler</a:t>
            </a:r>
            <a:endParaRPr lang="en-US" sz="2000" dirty="0"/>
          </a:p>
        </p:txBody>
      </p:sp>
      <p:sp>
        <p:nvSpPr>
          <p:cNvPr id="14" name="Text 12"/>
          <p:cNvSpPr txBox="1"/>
          <p:nvPr/>
        </p:nvSpPr>
        <p:spPr>
          <a:xfrm>
            <a:off x="1508760" y="5413248"/>
            <a:ext cx="10058400" cy="457200"/>
          </a:xfrm>
          <a:prstGeom prst="rect">
            <a:avLst/>
          </a:prstGeom>
          <a:noFill/>
          <a:ln/>
        </p:spPr>
        <p:txBody>
          <a:bodyPr wrap="square" lIns="0" tIns="0" rIns="0" bIns="0" rtlCol="0" anchor="t"/>
          <a:lstStyle/>
          <a:p>
            <a:pPr indent="0" marL="0">
              <a:buNone/>
            </a:pPr>
            <a:r>
              <a:rPr lang="en-US" sz="1500" dirty="0">
                <a:solidFill>
                  <a:schemeClr val="accent6"/>
                </a:solidFill>
              </a:rPr>
              <a:t>Send RSI over serial, ROS or socket; align the 0–3 vs 0.10–0.95 scales.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Road Severity">
  <a:themeElements>
    <a:clrScheme name="Road Severity">
      <a:dk1>
        <a:srgbClr val="1C2126"/>
      </a:dk1>
      <a:lt1>
        <a:srgbClr val="FFFFFF"/>
      </a:lt1>
      <a:dk2>
        <a:srgbClr val="4A5562"/>
      </a:dk2>
      <a:lt2>
        <a:srgbClr val="F1F3F5"/>
      </a:lt2>
      <a:accent1>
        <a:srgbClr val="F2A900"/>
      </a:accent1>
      <a:accent2>
        <a:srgbClr val="2E9E5B"/>
      </a:accent2>
      <a:accent3>
        <a:srgbClr val="F4D03F"/>
      </a:accent3>
      <a:accent4>
        <a:srgbClr val="E67E22"/>
      </a:accent4>
      <a:accent5>
        <a:srgbClr val="C0392B"/>
      </a:accent5>
      <a:accent6>
        <a:srgbClr val="8C96A3"/>
      </a:accent6>
      <a:hlink>
        <a:srgbClr val="0B6E99"/>
      </a:hlink>
      <a:folHlink>
        <a:srgbClr val="6C3483"/>
      </a:folHlink>
    </a:clrScheme>
    <a:fontScheme name="Road Sever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 Perception: Model Results</dc:title>
  <dc:subject>PptxGenJS Presentation</dc:subject>
  <dc:creator>Road_Profile_ML team</dc:creator>
  <cp:lastModifiedBy>Road_Profile_ML team</cp:lastModifiedBy>
  <cp:revision>1</cp:revision>
  <dcterms:created xsi:type="dcterms:W3CDTF">2026-10-06T18:04:20Z</dcterms:created>
  <dcterms:modified xsi:type="dcterms:W3CDTF">2026-10-06T18:04:20Z</dcterms:modified>
</cp:coreProperties>
</file>